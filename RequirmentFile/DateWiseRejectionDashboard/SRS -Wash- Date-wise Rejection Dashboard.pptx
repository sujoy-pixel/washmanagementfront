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5"/>
  </p:notesMasterIdLst>
  <p:sldIdLst>
    <p:sldId id="268" r:id="rId2"/>
    <p:sldId id="270" r:id="rId3"/>
    <p:sldId id="271" r:id="rId4"/>
  </p:sldIdLst>
  <p:sldSz cx="6858000" cy="9906000" type="A4"/>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71CA5A-8553-4A9D-84AF-0C2A64F5EB8F}" v="6" dt="2026-08-18T03:43:44.0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125" d="100"/>
          <a:sy n="125" d="100"/>
        </p:scale>
        <p:origin x="720" y="-117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rajul Islam" userId="02ffa81f-75c3-4f77-86e0-57a5b3e8c28d" providerId="ADAL" clId="{740FBA30-98C2-4EFC-ABC0-422EBE897749}"/>
    <pc:docChg chg="undo redo custSel mod addSld delSld modSld sldOrd addMainMaster delMainMaster modMainMaster modNotesMaster setSldSz">
      <pc:chgData name="Merajul Islam" userId="02ffa81f-75c3-4f77-86e0-57a5b3e8c28d" providerId="ADAL" clId="{740FBA30-98C2-4EFC-ABC0-422EBE897749}" dt="2026-08-18T03:45:58.015" v="4232" actId="20577"/>
      <pc:docMkLst>
        <pc:docMk/>
      </pc:docMkLst>
      <pc:sldChg chg="addSp delSp modSp new mod ord">
        <pc:chgData name="Merajul Islam" userId="02ffa81f-75c3-4f77-86e0-57a5b3e8c28d" providerId="ADAL" clId="{740FBA30-98C2-4EFC-ABC0-422EBE897749}" dt="2026-08-18T03:45:58.015" v="4232" actId="20577"/>
        <pc:sldMkLst>
          <pc:docMk/>
          <pc:sldMk cId="4008243715" sldId="268"/>
        </pc:sldMkLst>
        <pc:spChg chg="add mod">
          <ac:chgData name="Merajul Islam" userId="02ffa81f-75c3-4f77-86e0-57a5b3e8c28d" providerId="ADAL" clId="{740FBA30-98C2-4EFC-ABC0-422EBE897749}" dt="2026-08-18T03:07:25.298" v="3919" actId="20577"/>
          <ac:spMkLst>
            <pc:docMk/>
            <pc:sldMk cId="4008243715" sldId="268"/>
            <ac:spMk id="2" creationId="{F288B43F-BA56-E01A-85BF-33F51690E9FC}"/>
          </ac:spMkLst>
        </pc:spChg>
        <pc:spChg chg="mod">
          <ac:chgData name="Merajul Islam" userId="02ffa81f-75c3-4f77-86e0-57a5b3e8c28d" providerId="ADAL" clId="{740FBA30-98C2-4EFC-ABC0-422EBE897749}" dt="2026-08-16T08:29:45.030" v="982" actId="14100"/>
          <ac:spMkLst>
            <pc:docMk/>
            <pc:sldMk cId="4008243715" sldId="268"/>
            <ac:spMk id="16" creationId="{CF3AD528-942B-500B-FFCA-C0D2562CE3D2}"/>
          </ac:spMkLst>
        </pc:spChg>
        <pc:spChg chg="mod">
          <ac:chgData name="Merajul Islam" userId="02ffa81f-75c3-4f77-86e0-57a5b3e8c28d" providerId="ADAL" clId="{740FBA30-98C2-4EFC-ABC0-422EBE897749}" dt="2026-08-16T08:28:44.605" v="967" actId="14100"/>
          <ac:spMkLst>
            <pc:docMk/>
            <pc:sldMk cId="4008243715" sldId="268"/>
            <ac:spMk id="17" creationId="{0B92F6C3-F320-96A0-6683-3DC154B79DBF}"/>
          </ac:spMkLst>
        </pc:spChg>
        <pc:spChg chg="mod">
          <ac:chgData name="Merajul Islam" userId="02ffa81f-75c3-4f77-86e0-57a5b3e8c28d" providerId="ADAL" clId="{740FBA30-98C2-4EFC-ABC0-422EBE897749}" dt="2026-08-16T10:40:44.291" v="3393" actId="1036"/>
          <ac:spMkLst>
            <pc:docMk/>
            <pc:sldMk cId="4008243715" sldId="268"/>
            <ac:spMk id="18" creationId="{2ABAD6B7-CB82-C50C-C6DA-22B2F938861D}"/>
          </ac:spMkLst>
        </pc:spChg>
        <pc:spChg chg="mod">
          <ac:chgData name="Merajul Islam" userId="02ffa81f-75c3-4f77-86e0-57a5b3e8c28d" providerId="ADAL" clId="{740FBA30-98C2-4EFC-ABC0-422EBE897749}" dt="2026-08-16T08:51:35.881" v="1462" actId="20577"/>
          <ac:spMkLst>
            <pc:docMk/>
            <pc:sldMk cId="4008243715" sldId="268"/>
            <ac:spMk id="20" creationId="{4C9C0F84-EB76-A82C-7E2C-8E36DFABD75A}"/>
          </ac:spMkLst>
        </pc:spChg>
        <pc:spChg chg="add mod">
          <ac:chgData name="Merajul Islam" userId="02ffa81f-75c3-4f77-86e0-57a5b3e8c28d" providerId="ADAL" clId="{740FBA30-98C2-4EFC-ABC0-422EBE897749}" dt="2026-08-18T03:12:45.800" v="3930"/>
          <ac:spMkLst>
            <pc:docMk/>
            <pc:sldMk cId="4008243715" sldId="268"/>
            <ac:spMk id="21" creationId="{3D643B40-803F-1E9E-D81E-D798457A4DFA}"/>
          </ac:spMkLst>
        </pc:spChg>
        <pc:spChg chg="add mod">
          <ac:chgData name="Merajul Islam" userId="02ffa81f-75c3-4f77-86e0-57a5b3e8c28d" providerId="ADAL" clId="{740FBA30-98C2-4EFC-ABC0-422EBE897749}" dt="2026-08-16T08:53:17.009" v="1526" actId="1036"/>
          <ac:spMkLst>
            <pc:docMk/>
            <pc:sldMk cId="4008243715" sldId="268"/>
            <ac:spMk id="22" creationId="{5CF2E596-5EA7-E24D-9BF3-50DB85011694}"/>
          </ac:spMkLst>
        </pc:spChg>
        <pc:spChg chg="add mod">
          <ac:chgData name="Merajul Islam" userId="02ffa81f-75c3-4f77-86e0-57a5b3e8c28d" providerId="ADAL" clId="{740FBA30-98C2-4EFC-ABC0-422EBE897749}" dt="2026-08-18T03:10:44.772" v="3922"/>
          <ac:spMkLst>
            <pc:docMk/>
            <pc:sldMk cId="4008243715" sldId="268"/>
            <ac:spMk id="24" creationId="{A42A8070-D1B7-B7C4-D026-E9F7D19A94EE}"/>
          </ac:spMkLst>
        </pc:spChg>
        <pc:spChg chg="mod">
          <ac:chgData name="Merajul Islam" userId="02ffa81f-75c3-4f77-86e0-57a5b3e8c28d" providerId="ADAL" clId="{740FBA30-98C2-4EFC-ABC0-422EBE897749}" dt="2026-08-18T03:45:58.015" v="4232" actId="20577"/>
          <ac:spMkLst>
            <pc:docMk/>
            <pc:sldMk cId="4008243715" sldId="268"/>
            <ac:spMk id="25" creationId="{E42EE1FE-9594-403E-4B30-6ACD21C7D4CF}"/>
          </ac:spMkLst>
        </pc:spChg>
        <pc:spChg chg="add mod">
          <ac:chgData name="Merajul Islam" userId="02ffa81f-75c3-4f77-86e0-57a5b3e8c28d" providerId="ADAL" clId="{740FBA30-98C2-4EFC-ABC0-422EBE897749}" dt="2026-08-16T11:37:12.095" v="3503" actId="1035"/>
          <ac:spMkLst>
            <pc:docMk/>
            <pc:sldMk cId="4008243715" sldId="268"/>
            <ac:spMk id="26" creationId="{FFAE7595-E1AF-6A1B-F67E-4FF020B3BDC4}"/>
          </ac:spMkLst>
        </pc:spChg>
        <pc:spChg chg="add mod">
          <ac:chgData name="Merajul Islam" userId="02ffa81f-75c3-4f77-86e0-57a5b3e8c28d" providerId="ADAL" clId="{740FBA30-98C2-4EFC-ABC0-422EBE897749}" dt="2026-08-18T03:11:28.835" v="3923"/>
          <ac:spMkLst>
            <pc:docMk/>
            <pc:sldMk cId="4008243715" sldId="268"/>
            <ac:spMk id="28" creationId="{0E9CE250-23FD-7AED-1C58-05249AAE987F}"/>
          </ac:spMkLst>
        </pc:spChg>
        <pc:spChg chg="add mod">
          <ac:chgData name="Merajul Islam" userId="02ffa81f-75c3-4f77-86e0-57a5b3e8c28d" providerId="ADAL" clId="{740FBA30-98C2-4EFC-ABC0-422EBE897749}" dt="2026-08-16T08:35:01.753" v="1146" actId="113"/>
          <ac:spMkLst>
            <pc:docMk/>
            <pc:sldMk cId="4008243715" sldId="268"/>
            <ac:spMk id="29" creationId="{1349752A-1235-2C29-CF6C-46492356455E}"/>
          </ac:spMkLst>
        </pc:spChg>
        <pc:spChg chg="mod topLvl">
          <ac:chgData name="Merajul Islam" userId="02ffa81f-75c3-4f77-86e0-57a5b3e8c28d" providerId="ADAL" clId="{740FBA30-98C2-4EFC-ABC0-422EBE897749}" dt="2026-08-16T10:39:22.913" v="3346" actId="478"/>
          <ac:spMkLst>
            <pc:docMk/>
            <pc:sldMk cId="4008243715" sldId="268"/>
            <ac:spMk id="36" creationId="{C78404CB-5A92-0F2D-3E3D-6B4E6C8F03AF}"/>
          </ac:spMkLst>
        </pc:spChg>
        <pc:spChg chg="add mod">
          <ac:chgData name="Merajul Islam" userId="02ffa81f-75c3-4f77-86e0-57a5b3e8c28d" providerId="ADAL" clId="{740FBA30-98C2-4EFC-ABC0-422EBE897749}" dt="2026-08-16T10:39:47.345" v="3356" actId="1035"/>
          <ac:spMkLst>
            <pc:docMk/>
            <pc:sldMk cId="4008243715" sldId="268"/>
            <ac:spMk id="37" creationId="{422D30F0-6BC5-1B1E-82B7-C0D0FE20560B}"/>
          </ac:spMkLst>
        </pc:spChg>
        <pc:spChg chg="mod">
          <ac:chgData name="Merajul Islam" userId="02ffa81f-75c3-4f77-86e0-57a5b3e8c28d" providerId="ADAL" clId="{740FBA30-98C2-4EFC-ABC0-422EBE897749}" dt="2026-08-16T07:27:39.557" v="935"/>
          <ac:spMkLst>
            <pc:docMk/>
            <pc:sldMk cId="4008243715" sldId="268"/>
            <ac:spMk id="39" creationId="{02D7E31E-598F-2BBF-A933-523E181BC036}"/>
          </ac:spMkLst>
        </pc:spChg>
        <pc:spChg chg="mod">
          <ac:chgData name="Merajul Islam" userId="02ffa81f-75c3-4f77-86e0-57a5b3e8c28d" providerId="ADAL" clId="{740FBA30-98C2-4EFC-ABC0-422EBE897749}" dt="2026-08-16T07:27:39.557" v="935"/>
          <ac:spMkLst>
            <pc:docMk/>
            <pc:sldMk cId="4008243715" sldId="268"/>
            <ac:spMk id="40" creationId="{5DD3E62A-0829-DD84-F3B4-9F18969BA3F0}"/>
          </ac:spMkLst>
        </pc:spChg>
        <pc:spChg chg="add mod">
          <ac:chgData name="Merajul Islam" userId="02ffa81f-75c3-4f77-86e0-57a5b3e8c28d" providerId="ADAL" clId="{740FBA30-98C2-4EFC-ABC0-422EBE897749}" dt="2026-08-16T10:40:00.295" v="3368" actId="1035"/>
          <ac:spMkLst>
            <pc:docMk/>
            <pc:sldMk cId="4008243715" sldId="268"/>
            <ac:spMk id="41" creationId="{1E27BE3B-1AB9-21A3-C14C-BB6CEAD3F0FE}"/>
          </ac:spMkLst>
        </pc:spChg>
        <pc:spChg chg="mod">
          <ac:chgData name="Merajul Islam" userId="02ffa81f-75c3-4f77-86e0-57a5b3e8c28d" providerId="ADAL" clId="{740FBA30-98C2-4EFC-ABC0-422EBE897749}" dt="2026-08-16T07:27:45.636" v="937"/>
          <ac:spMkLst>
            <pc:docMk/>
            <pc:sldMk cId="4008243715" sldId="268"/>
            <ac:spMk id="43" creationId="{92D412FD-2D3B-766D-A490-2C7BB83A5DD1}"/>
          </ac:spMkLst>
        </pc:spChg>
        <pc:spChg chg="mod">
          <ac:chgData name="Merajul Islam" userId="02ffa81f-75c3-4f77-86e0-57a5b3e8c28d" providerId="ADAL" clId="{740FBA30-98C2-4EFC-ABC0-422EBE897749}" dt="2026-08-16T07:27:45.636" v="937"/>
          <ac:spMkLst>
            <pc:docMk/>
            <pc:sldMk cId="4008243715" sldId="268"/>
            <ac:spMk id="44" creationId="{74BDD5FF-D7D9-89F1-F5F5-F0C7AA1B0C0D}"/>
          </ac:spMkLst>
        </pc:spChg>
        <pc:spChg chg="add mod">
          <ac:chgData name="Merajul Islam" userId="02ffa81f-75c3-4f77-86e0-57a5b3e8c28d" providerId="ADAL" clId="{740FBA30-98C2-4EFC-ABC0-422EBE897749}" dt="2026-08-16T10:40:10.827" v="3379" actId="1035"/>
          <ac:spMkLst>
            <pc:docMk/>
            <pc:sldMk cId="4008243715" sldId="268"/>
            <ac:spMk id="45" creationId="{C048A661-BEEA-5C5D-DF6C-9DF18CDD968A}"/>
          </ac:spMkLst>
        </pc:spChg>
        <pc:spChg chg="add mod">
          <ac:chgData name="Merajul Islam" userId="02ffa81f-75c3-4f77-86e0-57a5b3e8c28d" providerId="ADAL" clId="{740FBA30-98C2-4EFC-ABC0-422EBE897749}" dt="2026-08-16T08:30:25.775" v="995" actId="1076"/>
          <ac:spMkLst>
            <pc:docMk/>
            <pc:sldMk cId="4008243715" sldId="268"/>
            <ac:spMk id="46" creationId="{E7FA6BFA-C320-E07A-4BF4-68CA6CBDBCD8}"/>
          </ac:spMkLst>
        </pc:spChg>
        <pc:spChg chg="add mod">
          <ac:chgData name="Merajul Islam" userId="02ffa81f-75c3-4f77-86e0-57a5b3e8c28d" providerId="ADAL" clId="{740FBA30-98C2-4EFC-ABC0-422EBE897749}" dt="2026-08-16T10:40:00.295" v="3368" actId="1035"/>
          <ac:spMkLst>
            <pc:docMk/>
            <pc:sldMk cId="4008243715" sldId="268"/>
            <ac:spMk id="48" creationId="{A75B4E92-64AD-4E39-5949-25C53801712D}"/>
          </ac:spMkLst>
        </pc:spChg>
        <pc:spChg chg="add mod">
          <ac:chgData name="Merajul Islam" userId="02ffa81f-75c3-4f77-86e0-57a5b3e8c28d" providerId="ADAL" clId="{740FBA30-98C2-4EFC-ABC0-422EBE897749}" dt="2026-08-16T10:40:10.827" v="3379" actId="1035"/>
          <ac:spMkLst>
            <pc:docMk/>
            <pc:sldMk cId="4008243715" sldId="268"/>
            <ac:spMk id="50" creationId="{8E88D140-931B-FCA8-8416-5574A8B7C785}"/>
          </ac:spMkLst>
        </pc:spChg>
        <pc:spChg chg="add mod">
          <ac:chgData name="Merajul Islam" userId="02ffa81f-75c3-4f77-86e0-57a5b3e8c28d" providerId="ADAL" clId="{740FBA30-98C2-4EFC-ABC0-422EBE897749}" dt="2026-08-16T10:40:31.023" v="3390" actId="1038"/>
          <ac:spMkLst>
            <pc:docMk/>
            <pc:sldMk cId="4008243715" sldId="268"/>
            <ac:spMk id="52" creationId="{F030CCEA-4ECF-9D8F-5388-E6897137C151}"/>
          </ac:spMkLst>
        </pc:spChg>
        <pc:spChg chg="add mod">
          <ac:chgData name="Merajul Islam" userId="02ffa81f-75c3-4f77-86e0-57a5b3e8c28d" providerId="ADAL" clId="{740FBA30-98C2-4EFC-ABC0-422EBE897749}" dt="2026-08-16T10:40:27.523" v="3389" actId="1038"/>
          <ac:spMkLst>
            <pc:docMk/>
            <pc:sldMk cId="4008243715" sldId="268"/>
            <ac:spMk id="54" creationId="{76A13BEC-1D05-21C2-9C4D-FE445A90A32D}"/>
          </ac:spMkLst>
        </pc:spChg>
        <pc:spChg chg="add mod">
          <ac:chgData name="Merajul Islam" userId="02ffa81f-75c3-4f77-86e0-57a5b3e8c28d" providerId="ADAL" clId="{740FBA30-98C2-4EFC-ABC0-422EBE897749}" dt="2026-08-18T03:12:53.341" v="3941" actId="1036"/>
          <ac:spMkLst>
            <pc:docMk/>
            <pc:sldMk cId="4008243715" sldId="268"/>
            <ac:spMk id="56" creationId="{E20C2C33-BA4F-8D15-ADB1-C4A69F9F166A}"/>
          </ac:spMkLst>
        </pc:spChg>
        <pc:spChg chg="add mod">
          <ac:chgData name="Merajul Islam" userId="02ffa81f-75c3-4f77-86e0-57a5b3e8c28d" providerId="ADAL" clId="{740FBA30-98C2-4EFC-ABC0-422EBE897749}" dt="2026-08-18T03:14:08.547" v="3962" actId="20577"/>
          <ac:spMkLst>
            <pc:docMk/>
            <pc:sldMk cId="4008243715" sldId="268"/>
            <ac:spMk id="58" creationId="{413361D0-604D-799E-B20E-393B81665E91}"/>
          </ac:spMkLst>
        </pc:spChg>
        <pc:spChg chg="add mod">
          <ac:chgData name="Merajul Islam" userId="02ffa81f-75c3-4f77-86e0-57a5b3e8c28d" providerId="ADAL" clId="{740FBA30-98C2-4EFC-ABC0-422EBE897749}" dt="2026-08-16T08:51:53.779" v="1480" actId="20577"/>
          <ac:spMkLst>
            <pc:docMk/>
            <pc:sldMk cId="4008243715" sldId="268"/>
            <ac:spMk id="61" creationId="{7E73CAD5-BF24-B821-C627-DECEE18D4A94}"/>
          </ac:spMkLst>
        </pc:spChg>
        <pc:spChg chg="mod">
          <ac:chgData name="Merajul Islam" userId="02ffa81f-75c3-4f77-86e0-57a5b3e8c28d" providerId="ADAL" clId="{740FBA30-98C2-4EFC-ABC0-422EBE897749}" dt="2026-08-16T10:39:32.461" v="3350"/>
          <ac:spMkLst>
            <pc:docMk/>
            <pc:sldMk cId="4008243715" sldId="268"/>
            <ac:spMk id="65" creationId="{7CC83AE8-3E4C-CC8D-2CA5-2D9F80F93285}"/>
          </ac:spMkLst>
        </pc:spChg>
        <pc:spChg chg="mod">
          <ac:chgData name="Merajul Islam" userId="02ffa81f-75c3-4f77-86e0-57a5b3e8c28d" providerId="ADAL" clId="{740FBA30-98C2-4EFC-ABC0-422EBE897749}" dt="2026-08-16T10:39:32.461" v="3350"/>
          <ac:spMkLst>
            <pc:docMk/>
            <pc:sldMk cId="4008243715" sldId="268"/>
            <ac:spMk id="66" creationId="{3A701B9A-BD31-7233-FDBE-FB480B7CE52C}"/>
          </ac:spMkLst>
        </pc:spChg>
        <pc:grpChg chg="mod">
          <ac:chgData name="Merajul Islam" userId="02ffa81f-75c3-4f77-86e0-57a5b3e8c28d" providerId="ADAL" clId="{740FBA30-98C2-4EFC-ABC0-422EBE897749}" dt="2026-08-16T08:33:50.337" v="1100" actId="14100"/>
          <ac:grpSpMkLst>
            <pc:docMk/>
            <pc:sldMk cId="4008243715" sldId="268"/>
            <ac:grpSpMk id="13" creationId="{C871D53A-B17C-895A-8E0B-422652A6CD68}"/>
          </ac:grpSpMkLst>
        </pc:grpChg>
        <pc:grpChg chg="add mod">
          <ac:chgData name="Merajul Islam" userId="02ffa81f-75c3-4f77-86e0-57a5b3e8c28d" providerId="ADAL" clId="{740FBA30-98C2-4EFC-ABC0-422EBE897749}" dt="2026-08-16T10:40:00.295" v="3368" actId="1035"/>
          <ac:grpSpMkLst>
            <pc:docMk/>
            <pc:sldMk cId="4008243715" sldId="268"/>
            <ac:grpSpMk id="38" creationId="{5B6FDDF0-103D-551C-B271-5C148FC46A15}"/>
          </ac:grpSpMkLst>
        </pc:grpChg>
        <pc:grpChg chg="add mod">
          <ac:chgData name="Merajul Islam" userId="02ffa81f-75c3-4f77-86e0-57a5b3e8c28d" providerId="ADAL" clId="{740FBA30-98C2-4EFC-ABC0-422EBE897749}" dt="2026-08-16T10:40:10.827" v="3379" actId="1035"/>
          <ac:grpSpMkLst>
            <pc:docMk/>
            <pc:sldMk cId="4008243715" sldId="268"/>
            <ac:grpSpMk id="42" creationId="{3673A5E1-4E4E-FE25-8035-BE9DE0CC7DC6}"/>
          </ac:grpSpMkLst>
        </pc:grpChg>
        <pc:grpChg chg="add mod ord">
          <ac:chgData name="Merajul Islam" userId="02ffa81f-75c3-4f77-86e0-57a5b3e8c28d" providerId="ADAL" clId="{740FBA30-98C2-4EFC-ABC0-422EBE897749}" dt="2026-08-16T10:39:47.345" v="3356" actId="1035"/>
          <ac:grpSpMkLst>
            <pc:docMk/>
            <pc:sldMk cId="4008243715" sldId="268"/>
            <ac:grpSpMk id="64" creationId="{8C23DEEA-2643-EADF-32C0-2DCBAB8B3BD5}"/>
          </ac:grpSpMkLst>
        </pc:grpChg>
        <pc:graphicFrameChg chg="add mod modGraphic">
          <ac:chgData name="Merajul Islam" userId="02ffa81f-75c3-4f77-86e0-57a5b3e8c28d" providerId="ADAL" clId="{740FBA30-98C2-4EFC-ABC0-422EBE897749}" dt="2026-08-16T08:52:57.652" v="1497" actId="1035"/>
          <ac:graphicFrameMkLst>
            <pc:docMk/>
            <pc:sldMk cId="4008243715" sldId="268"/>
            <ac:graphicFrameMk id="59" creationId="{B0A16796-11B5-19D3-9791-2B77ADD6D8FB}"/>
          </ac:graphicFrameMkLst>
        </pc:graphicFrameChg>
        <pc:picChg chg="add mod">
          <ac:chgData name="Merajul Islam" userId="02ffa81f-75c3-4f77-86e0-57a5b3e8c28d" providerId="ADAL" clId="{740FBA30-98C2-4EFC-ABC0-422EBE897749}" dt="2026-08-16T08:53:17.009" v="1526" actId="1036"/>
          <ac:picMkLst>
            <pc:docMk/>
            <pc:sldMk cId="4008243715" sldId="268"/>
            <ac:picMk id="23" creationId="{57009460-4DE9-E9D6-8213-F00C6972CD28}"/>
          </ac:picMkLst>
        </pc:picChg>
        <pc:picChg chg="add mod">
          <ac:chgData name="Merajul Islam" userId="02ffa81f-75c3-4f77-86e0-57a5b3e8c28d" providerId="ADAL" clId="{740FBA30-98C2-4EFC-ABC0-422EBE897749}" dt="2026-08-16T11:37:12.095" v="3503" actId="1035"/>
          <ac:picMkLst>
            <pc:docMk/>
            <pc:sldMk cId="4008243715" sldId="268"/>
            <ac:picMk id="30" creationId="{C4BCA63E-B204-7347-EE28-7F248D6F9197}"/>
          </ac:picMkLst>
        </pc:picChg>
        <pc:picChg chg="add mod">
          <ac:chgData name="Merajul Islam" userId="02ffa81f-75c3-4f77-86e0-57a5b3e8c28d" providerId="ADAL" clId="{740FBA30-98C2-4EFC-ABC0-422EBE897749}" dt="2026-08-18T03:12:53.341" v="3941" actId="1036"/>
          <ac:picMkLst>
            <pc:docMk/>
            <pc:sldMk cId="4008243715" sldId="268"/>
            <ac:picMk id="68" creationId="{40D27F24-F6CE-CCD6-126D-50D15A2FFEA3}"/>
          </ac:picMkLst>
        </pc:picChg>
      </pc:sldChg>
      <pc:sldChg chg="addSp delSp modSp new mod">
        <pc:chgData name="Merajul Islam" userId="02ffa81f-75c3-4f77-86e0-57a5b3e8c28d" providerId="ADAL" clId="{740FBA30-98C2-4EFC-ABC0-422EBE897749}" dt="2026-08-18T03:39:06.091" v="3968"/>
        <pc:sldMkLst>
          <pc:docMk/>
          <pc:sldMk cId="4176354546" sldId="270"/>
        </pc:sldMkLst>
        <pc:spChg chg="add mod">
          <ac:chgData name="Merajul Islam" userId="02ffa81f-75c3-4f77-86e0-57a5b3e8c28d" providerId="ADAL" clId="{740FBA30-98C2-4EFC-ABC0-422EBE897749}" dt="2026-08-16T08:55:42.875" v="1562" actId="1076"/>
          <ac:spMkLst>
            <pc:docMk/>
            <pc:sldMk cId="4176354546" sldId="270"/>
            <ac:spMk id="3" creationId="{512263B8-1449-DDCA-5AF6-78C78D301780}"/>
          </ac:spMkLst>
        </pc:spChg>
        <pc:spChg chg="add mod">
          <ac:chgData name="Merajul Islam" userId="02ffa81f-75c3-4f77-86e0-57a5b3e8c28d" providerId="ADAL" clId="{740FBA30-98C2-4EFC-ABC0-422EBE897749}" dt="2026-08-16T11:48:49.303" v="3641" actId="20577"/>
          <ac:spMkLst>
            <pc:docMk/>
            <pc:sldMk cId="4176354546" sldId="270"/>
            <ac:spMk id="10" creationId="{E0CF10ED-F62B-E808-1F5F-74D7E5764AF6}"/>
          </ac:spMkLst>
        </pc:spChg>
        <pc:spChg chg="add mod">
          <ac:chgData name="Merajul Islam" userId="02ffa81f-75c3-4f77-86e0-57a5b3e8c28d" providerId="ADAL" clId="{740FBA30-98C2-4EFC-ABC0-422EBE897749}" dt="2026-08-16T11:49:33.655" v="3643" actId="20577"/>
          <ac:spMkLst>
            <pc:docMk/>
            <pc:sldMk cId="4176354546" sldId="270"/>
            <ac:spMk id="14" creationId="{C28AD51E-A977-8EA6-3EF5-413B4C6442D5}"/>
          </ac:spMkLst>
        </pc:spChg>
        <pc:spChg chg="add mod">
          <ac:chgData name="Merajul Islam" userId="02ffa81f-75c3-4f77-86e0-57a5b3e8c28d" providerId="ADAL" clId="{740FBA30-98C2-4EFC-ABC0-422EBE897749}" dt="2026-08-16T11:49:57.612" v="3746" actId="1036"/>
          <ac:spMkLst>
            <pc:docMk/>
            <pc:sldMk cId="4176354546" sldId="270"/>
            <ac:spMk id="18" creationId="{1D5BCF9C-5118-04ED-2830-D387FF181B49}"/>
          </ac:spMkLst>
        </pc:spChg>
        <pc:graphicFrameChg chg="add mod modGraphic">
          <ac:chgData name="Merajul Islam" userId="02ffa81f-75c3-4f77-86e0-57a5b3e8c28d" providerId="ADAL" clId="{740FBA30-98C2-4EFC-ABC0-422EBE897749}" dt="2026-08-16T11:47:58.170" v="3574"/>
          <ac:graphicFrameMkLst>
            <pc:docMk/>
            <pc:sldMk cId="4176354546" sldId="270"/>
            <ac:graphicFrameMk id="4" creationId="{1824B7EC-DCA1-BAE6-104B-F70623FD8A91}"/>
          </ac:graphicFrameMkLst>
        </pc:graphicFrameChg>
        <pc:graphicFrameChg chg="add mod modGraphic">
          <ac:chgData name="Merajul Islam" userId="02ffa81f-75c3-4f77-86e0-57a5b3e8c28d" providerId="ADAL" clId="{740FBA30-98C2-4EFC-ABC0-422EBE897749}" dt="2026-08-18T03:19:13.703" v="3965" actId="20577"/>
          <ac:graphicFrameMkLst>
            <pc:docMk/>
            <pc:sldMk cId="4176354546" sldId="270"/>
            <ac:graphicFrameMk id="12" creationId="{14947744-3475-E16E-D25D-191A0275FEED}"/>
          </ac:graphicFrameMkLst>
        </pc:graphicFrameChg>
        <pc:graphicFrameChg chg="add mod modGraphic">
          <ac:chgData name="Merajul Islam" userId="02ffa81f-75c3-4f77-86e0-57a5b3e8c28d" providerId="ADAL" clId="{740FBA30-98C2-4EFC-ABC0-422EBE897749}" dt="2026-08-18T03:39:06.091" v="3968"/>
          <ac:graphicFrameMkLst>
            <pc:docMk/>
            <pc:sldMk cId="4176354546" sldId="270"/>
            <ac:graphicFrameMk id="22" creationId="{0476F7BD-4713-F362-70ED-25DB1C0037F7}"/>
          </ac:graphicFrameMkLst>
        </pc:graphicFrameChg>
        <pc:picChg chg="add mod">
          <ac:chgData name="Merajul Islam" userId="02ffa81f-75c3-4f77-86e0-57a5b3e8c28d" providerId="ADAL" clId="{740FBA30-98C2-4EFC-ABC0-422EBE897749}" dt="2026-08-16T10:41:44.360" v="3400" actId="1076"/>
          <ac:picMkLst>
            <pc:docMk/>
            <pc:sldMk cId="4176354546" sldId="270"/>
            <ac:picMk id="26" creationId="{B7F20A6B-0E16-6AF8-4451-CC0F614FE06C}"/>
          </ac:picMkLst>
        </pc:picChg>
        <pc:picChg chg="add mod">
          <ac:chgData name="Merajul Islam" userId="02ffa81f-75c3-4f77-86e0-57a5b3e8c28d" providerId="ADAL" clId="{740FBA30-98C2-4EFC-ABC0-422EBE897749}" dt="2026-08-16T11:48:42.771" v="3639" actId="1035"/>
          <ac:picMkLst>
            <pc:docMk/>
            <pc:sldMk cId="4176354546" sldId="270"/>
            <ac:picMk id="30" creationId="{940CD75A-54A5-50B4-2F99-AC8476C4A5F1}"/>
          </ac:picMkLst>
        </pc:picChg>
      </pc:sldChg>
      <pc:sldChg chg="addSp modSp new mod">
        <pc:chgData name="Merajul Islam" userId="02ffa81f-75c3-4f77-86e0-57a5b3e8c28d" providerId="ADAL" clId="{740FBA30-98C2-4EFC-ABC0-422EBE897749}" dt="2026-08-18T03:45:41.621" v="4230" actId="20577"/>
        <pc:sldMkLst>
          <pc:docMk/>
          <pc:sldMk cId="669787490" sldId="271"/>
        </pc:sldMkLst>
        <pc:spChg chg="add mod">
          <ac:chgData name="Merajul Islam" userId="02ffa81f-75c3-4f77-86e0-57a5b3e8c28d" providerId="ADAL" clId="{740FBA30-98C2-4EFC-ABC0-422EBE897749}" dt="2026-08-18T03:42:40.941" v="4163" actId="1035"/>
          <ac:spMkLst>
            <pc:docMk/>
            <pc:sldMk cId="669787490" sldId="271"/>
            <ac:spMk id="5" creationId="{17063B74-CDE1-7964-A968-25D9769F7199}"/>
          </ac:spMkLst>
        </pc:spChg>
        <pc:spChg chg="add mod">
          <ac:chgData name="Merajul Islam" userId="02ffa81f-75c3-4f77-86e0-57a5b3e8c28d" providerId="ADAL" clId="{740FBA30-98C2-4EFC-ABC0-422EBE897749}" dt="2026-08-18T03:43:53.901" v="4182" actId="20577"/>
          <ac:spMkLst>
            <pc:docMk/>
            <pc:sldMk cId="669787490" sldId="271"/>
            <ac:spMk id="7" creationId="{F330EA19-3A43-6C43-07A1-B8E9D17A45B4}"/>
          </ac:spMkLst>
        </pc:spChg>
        <pc:spChg chg="add mod">
          <ac:chgData name="Merajul Islam" userId="02ffa81f-75c3-4f77-86e0-57a5b3e8c28d" providerId="ADAL" clId="{740FBA30-98C2-4EFC-ABC0-422EBE897749}" dt="2026-08-18T03:44:03.233" v="4192" actId="1036"/>
          <ac:spMkLst>
            <pc:docMk/>
            <pc:sldMk cId="669787490" sldId="271"/>
            <ac:spMk id="11" creationId="{E677425D-0783-3AD8-7127-BA0DEC48250B}"/>
          </ac:spMkLst>
        </pc:spChg>
        <pc:spChg chg="add mod">
          <ac:chgData name="Merajul Islam" userId="02ffa81f-75c3-4f77-86e0-57a5b3e8c28d" providerId="ADAL" clId="{740FBA30-98C2-4EFC-ABC0-422EBE897749}" dt="2026-08-18T03:45:24.616" v="4218" actId="1035"/>
          <ac:spMkLst>
            <pc:docMk/>
            <pc:sldMk cId="669787490" sldId="271"/>
            <ac:spMk id="13" creationId="{A095E65F-BFF8-3B5F-0F02-D352632682B8}"/>
          </ac:spMkLst>
        </pc:spChg>
        <pc:spChg chg="add mod">
          <ac:chgData name="Merajul Islam" userId="02ffa81f-75c3-4f77-86e0-57a5b3e8c28d" providerId="ADAL" clId="{740FBA30-98C2-4EFC-ABC0-422EBE897749}" dt="2026-08-18T03:45:24.616" v="4218" actId="1035"/>
          <ac:spMkLst>
            <pc:docMk/>
            <pc:sldMk cId="669787490" sldId="271"/>
            <ac:spMk id="15" creationId="{521E7554-9582-5BAF-5A8C-91CF1AE224E0}"/>
          </ac:spMkLst>
        </pc:spChg>
        <pc:graphicFrameChg chg="add mod modGraphic">
          <ac:chgData name="Merajul Islam" userId="02ffa81f-75c3-4f77-86e0-57a5b3e8c28d" providerId="ADAL" clId="{740FBA30-98C2-4EFC-ABC0-422EBE897749}" dt="2026-08-18T03:42:31.022" v="4126" actId="2165"/>
          <ac:graphicFrameMkLst>
            <pc:docMk/>
            <pc:sldMk cId="669787490" sldId="271"/>
            <ac:graphicFrameMk id="3" creationId="{095B6629-E013-D553-BE79-782935FF6698}"/>
          </ac:graphicFrameMkLst>
        </pc:graphicFrameChg>
        <pc:graphicFrameChg chg="add mod modGraphic">
          <ac:chgData name="Merajul Islam" userId="02ffa81f-75c3-4f77-86e0-57a5b3e8c28d" providerId="ADAL" clId="{740FBA30-98C2-4EFC-ABC0-422EBE897749}" dt="2026-08-18T03:45:41.621" v="4230" actId="20577"/>
          <ac:graphicFrameMkLst>
            <pc:docMk/>
            <pc:sldMk cId="669787490" sldId="271"/>
            <ac:graphicFrameMk id="9" creationId="{9656B6E8-1621-AAAB-4BD0-0B5B4B164C40}"/>
          </ac:graphicFrameMkLst>
        </pc:graphicFrameChg>
        <pc:picChg chg="add mod">
          <ac:chgData name="Merajul Islam" userId="02ffa81f-75c3-4f77-86e0-57a5b3e8c28d" providerId="ADAL" clId="{740FBA30-98C2-4EFC-ABC0-422EBE897749}" dt="2026-08-18T03:42:40.941" v="4163" actId="1035"/>
          <ac:picMkLst>
            <pc:docMk/>
            <pc:sldMk cId="669787490" sldId="271"/>
            <ac:picMk id="17" creationId="{92B4749D-E2A9-12BB-7067-785B90BC1AE3}"/>
          </ac:picMkLst>
        </pc:picChg>
        <pc:picChg chg="add mod">
          <ac:chgData name="Merajul Islam" userId="02ffa81f-75c3-4f77-86e0-57a5b3e8c28d" providerId="ADAL" clId="{740FBA30-98C2-4EFC-ABC0-422EBE897749}" dt="2026-08-18T03:44:03.233" v="4192" actId="1036"/>
          <ac:picMkLst>
            <pc:docMk/>
            <pc:sldMk cId="669787490" sldId="271"/>
            <ac:picMk id="19" creationId="{E302B4E1-2F25-786D-984D-D613800443B5}"/>
          </ac:picMkLst>
        </pc:picChg>
        <pc:picChg chg="add mod">
          <ac:chgData name="Merajul Islam" userId="02ffa81f-75c3-4f77-86e0-57a5b3e8c28d" providerId="ADAL" clId="{740FBA30-98C2-4EFC-ABC0-422EBE897749}" dt="2026-08-18T03:45:24.616" v="4218" actId="1035"/>
          <ac:picMkLst>
            <pc:docMk/>
            <pc:sldMk cId="669787490" sldId="271"/>
            <ac:picMk id="21" creationId="{33FEA248-96B7-6C89-9D87-7C68C72A699C}"/>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FBF437-5977-4E38-BAB7-AE02B43CAAA7}" type="doc">
      <dgm:prSet loTypeId="urn:microsoft.com/office/officeart/2005/8/layout/process1" loCatId="process" qsTypeId="urn:microsoft.com/office/officeart/2005/8/quickstyle/simple1" qsCatId="simple" csTypeId="urn:microsoft.com/office/officeart/2005/8/colors/accent2_1" csCatId="accent2" phldr="1"/>
      <dgm:spPr/>
      <dgm:t>
        <a:bodyPr/>
        <a:lstStyle/>
        <a:p>
          <a:endParaRPr lang="en-US"/>
        </a:p>
      </dgm:t>
    </dgm:pt>
    <dgm:pt modelId="{069B2F6B-D7AC-4C4A-9B92-E5D67EBAA63A}">
      <dgm:prSet phldrT="[Text]"/>
      <dgm:spPr/>
      <dgm:t>
        <a:bodyPr/>
        <a:lstStyle/>
        <a:p>
          <a:r>
            <a:rPr lang="en-US" dirty="0">
              <a:latin typeface="Poppins" panose="00000500000000000000" pitchFamily="2" charset="0"/>
              <a:cs typeface="Poppins" panose="00000500000000000000" pitchFamily="2" charset="0"/>
            </a:rPr>
            <a:t>User selects mandatory Unit*, From Date*, To Date*, and optional Search keyword</a:t>
          </a:r>
        </a:p>
      </dgm:t>
    </dgm:pt>
    <dgm:pt modelId="{01318EA2-30C3-4143-AC36-D88EEF758381}" type="parTrans" cxnId="{E992EA48-7A64-4FC2-8600-D7C896EA4675}">
      <dgm:prSet/>
      <dgm:spPr/>
      <dgm:t>
        <a:bodyPr/>
        <a:lstStyle/>
        <a:p>
          <a:endParaRPr lang="en-US"/>
        </a:p>
      </dgm:t>
    </dgm:pt>
    <dgm:pt modelId="{36407D3D-1E3D-42FE-9540-65053FAD3DD1}" type="sibTrans" cxnId="{E992EA48-7A64-4FC2-8600-D7C896EA4675}">
      <dgm:prSet/>
      <dgm:spPr/>
      <dgm:t>
        <a:bodyPr/>
        <a:lstStyle/>
        <a:p>
          <a:endParaRPr lang="en-US"/>
        </a:p>
      </dgm:t>
    </dgm:pt>
    <dgm:pt modelId="{ACE3B148-CF41-4889-9848-E1CB8222BC4D}">
      <dgm:prSet phldrT="[Text]" phldr="0"/>
      <dgm:spPr/>
      <dgm:t>
        <a:bodyPr/>
        <a:lstStyle/>
        <a:p>
          <a:pPr>
            <a:buNone/>
          </a:pPr>
          <a:r>
            <a:rPr lang="en-US" dirty="0">
              <a:latin typeface="Poppins" panose="00000500000000000000" pitchFamily="2" charset="0"/>
              <a:cs typeface="Poppins" panose="00000500000000000000" pitchFamily="2" charset="0"/>
            </a:rPr>
            <a:t>System executes optimized view joining Receive, Batch, and Size QC tables</a:t>
          </a:r>
        </a:p>
      </dgm:t>
    </dgm:pt>
    <dgm:pt modelId="{B1305609-5716-48C8-80C3-E31C472CBD78}" type="parTrans" cxnId="{E05AD0D6-09AF-45BD-B556-E42AE47680EA}">
      <dgm:prSet/>
      <dgm:spPr/>
      <dgm:t>
        <a:bodyPr/>
        <a:lstStyle/>
        <a:p>
          <a:endParaRPr lang="en-US"/>
        </a:p>
      </dgm:t>
    </dgm:pt>
    <dgm:pt modelId="{06A41945-6894-4988-A6C3-3D4B46596351}" type="sibTrans" cxnId="{E05AD0D6-09AF-45BD-B556-E42AE47680EA}">
      <dgm:prSet/>
      <dgm:spPr/>
      <dgm:t>
        <a:bodyPr/>
        <a:lstStyle/>
        <a:p>
          <a:endParaRPr lang="en-US"/>
        </a:p>
      </dgm:t>
    </dgm:pt>
    <dgm:pt modelId="{DB45F48A-7A90-4256-9B6C-0868085E2CB0}">
      <dgm:prSet phldrT="[Text]" phldr="0"/>
      <dgm:spPr/>
      <dgm:t>
        <a:bodyPr/>
        <a:lstStyle/>
        <a:p>
          <a:pPr>
            <a:buNone/>
          </a:pPr>
          <a:r>
            <a:rPr lang="en-US" dirty="0">
              <a:latin typeface="Poppins" panose="00000500000000000000" pitchFamily="2" charset="0"/>
              <a:cs typeface="Poppins" panose="00000500000000000000" pitchFamily="2" charset="0"/>
            </a:rPr>
            <a:t>Group rows by Job/Order/UoM; aggregate checks, rejections, and size buckets</a:t>
          </a:r>
        </a:p>
      </dgm:t>
    </dgm:pt>
    <dgm:pt modelId="{F4F30555-C4EB-4B17-B72D-20D8F073B0EB}" type="parTrans" cxnId="{0DE37B03-9C29-40E1-9D6A-4CBFB958A50A}">
      <dgm:prSet/>
      <dgm:spPr/>
      <dgm:t>
        <a:bodyPr/>
        <a:lstStyle/>
        <a:p>
          <a:endParaRPr lang="en-US"/>
        </a:p>
      </dgm:t>
    </dgm:pt>
    <dgm:pt modelId="{BDEF5618-C221-4EE5-A8CD-B4DBEAF00DD2}" type="sibTrans" cxnId="{0DE37B03-9C29-40E1-9D6A-4CBFB958A50A}">
      <dgm:prSet/>
      <dgm:spPr/>
      <dgm:t>
        <a:bodyPr/>
        <a:lstStyle/>
        <a:p>
          <a:endParaRPr lang="en-US"/>
        </a:p>
      </dgm:t>
    </dgm:pt>
    <dgm:pt modelId="{62CD096A-03B2-4139-B2E0-7B7E7C7CEE2D}">
      <dgm:prSet phldrT="[Text]" phldr="0"/>
      <dgm:spPr/>
      <dgm:t>
        <a:bodyPr/>
        <a:lstStyle/>
        <a:p>
          <a:pPr>
            <a:buNone/>
          </a:pPr>
          <a:r>
            <a:rPr lang="en-US" dirty="0">
              <a:latin typeface="Poppins" panose="00000500000000000000" pitchFamily="2" charset="0"/>
              <a:cs typeface="Poppins" panose="00000500000000000000" pitchFamily="2" charset="0"/>
            </a:rPr>
            <a:t>Calculated Field &amp; Rule Processing </a:t>
          </a:r>
        </a:p>
      </dgm:t>
    </dgm:pt>
    <dgm:pt modelId="{58036E8E-2B4A-4E66-BD6E-EE7FFD6D6EC4}" type="parTrans" cxnId="{006764AD-4794-4A2F-BAE2-98F32FA8D4BF}">
      <dgm:prSet/>
      <dgm:spPr/>
      <dgm:t>
        <a:bodyPr/>
        <a:lstStyle/>
        <a:p>
          <a:endParaRPr lang="en-US"/>
        </a:p>
      </dgm:t>
    </dgm:pt>
    <dgm:pt modelId="{B5951E6E-AEA3-4420-99E5-CE036811912D}" type="sibTrans" cxnId="{006764AD-4794-4A2F-BAE2-98F32FA8D4BF}">
      <dgm:prSet/>
      <dgm:spPr/>
      <dgm:t>
        <a:bodyPr/>
        <a:lstStyle/>
        <a:p>
          <a:endParaRPr lang="en-US"/>
        </a:p>
      </dgm:t>
    </dgm:pt>
    <dgm:pt modelId="{8ED4F6ED-D482-4A0F-8E4A-B53F8730F7EA}">
      <dgm:prSet phldrT="[Text]" phldr="0"/>
      <dgm:spPr/>
      <dgm:t>
        <a:bodyPr/>
        <a:lstStyle/>
        <a:p>
          <a:pPr>
            <a:buNone/>
          </a:pPr>
          <a:r>
            <a:rPr lang="en-US" dirty="0">
              <a:latin typeface="Poppins" panose="00000500000000000000" pitchFamily="2" charset="0"/>
              <a:cs typeface="Poppins" panose="00000500000000000000" pitchFamily="2" charset="0"/>
            </a:rPr>
            <a:t>Display data grid</a:t>
          </a:r>
        </a:p>
      </dgm:t>
    </dgm:pt>
    <dgm:pt modelId="{5B09DE3F-4009-47E4-AF60-A3C86DDF8B80}" type="parTrans" cxnId="{965773FF-0AA2-49B4-9B7B-846DDD2BFABA}">
      <dgm:prSet/>
      <dgm:spPr/>
      <dgm:t>
        <a:bodyPr/>
        <a:lstStyle/>
        <a:p>
          <a:endParaRPr lang="en-US"/>
        </a:p>
      </dgm:t>
    </dgm:pt>
    <dgm:pt modelId="{955DF26C-25C2-44B5-9E2C-B639AE6A248E}" type="sibTrans" cxnId="{965773FF-0AA2-49B4-9B7B-846DDD2BFABA}">
      <dgm:prSet/>
      <dgm:spPr/>
      <dgm:t>
        <a:bodyPr/>
        <a:lstStyle/>
        <a:p>
          <a:endParaRPr lang="en-US"/>
        </a:p>
      </dgm:t>
    </dgm:pt>
    <dgm:pt modelId="{DCF7DAC3-2774-4881-A4C8-336A71712D74}" type="pres">
      <dgm:prSet presAssocID="{45FBF437-5977-4E38-BAB7-AE02B43CAAA7}" presName="Name0" presStyleCnt="0">
        <dgm:presLayoutVars>
          <dgm:dir/>
          <dgm:resizeHandles val="exact"/>
        </dgm:presLayoutVars>
      </dgm:prSet>
      <dgm:spPr/>
    </dgm:pt>
    <dgm:pt modelId="{06432C84-F148-4937-BC74-F26CB55877F3}" type="pres">
      <dgm:prSet presAssocID="{069B2F6B-D7AC-4C4A-9B92-E5D67EBAA63A}" presName="node" presStyleLbl="node1" presStyleIdx="0" presStyleCnt="5">
        <dgm:presLayoutVars>
          <dgm:bulletEnabled val="1"/>
        </dgm:presLayoutVars>
      </dgm:prSet>
      <dgm:spPr/>
    </dgm:pt>
    <dgm:pt modelId="{8FFB5733-2F12-4143-9BF4-AC2C21BD0D22}" type="pres">
      <dgm:prSet presAssocID="{36407D3D-1E3D-42FE-9540-65053FAD3DD1}" presName="sibTrans" presStyleLbl="sibTrans2D1" presStyleIdx="0" presStyleCnt="4"/>
      <dgm:spPr/>
    </dgm:pt>
    <dgm:pt modelId="{4233ADE2-79B4-4D88-8616-1DB70BEF53BB}" type="pres">
      <dgm:prSet presAssocID="{36407D3D-1E3D-42FE-9540-65053FAD3DD1}" presName="connectorText" presStyleLbl="sibTrans2D1" presStyleIdx="0" presStyleCnt="4"/>
      <dgm:spPr/>
    </dgm:pt>
    <dgm:pt modelId="{51105930-9C90-461B-AE8A-7D57B6C752E2}" type="pres">
      <dgm:prSet presAssocID="{ACE3B148-CF41-4889-9848-E1CB8222BC4D}" presName="node" presStyleLbl="node1" presStyleIdx="1" presStyleCnt="5">
        <dgm:presLayoutVars>
          <dgm:bulletEnabled val="1"/>
        </dgm:presLayoutVars>
      </dgm:prSet>
      <dgm:spPr/>
    </dgm:pt>
    <dgm:pt modelId="{80C0F245-1B28-4D3E-9A8C-DDA35B915678}" type="pres">
      <dgm:prSet presAssocID="{06A41945-6894-4988-A6C3-3D4B46596351}" presName="sibTrans" presStyleLbl="sibTrans2D1" presStyleIdx="1" presStyleCnt="4"/>
      <dgm:spPr/>
    </dgm:pt>
    <dgm:pt modelId="{0BF7935A-254D-4F1C-B933-624B77D9F63A}" type="pres">
      <dgm:prSet presAssocID="{06A41945-6894-4988-A6C3-3D4B46596351}" presName="connectorText" presStyleLbl="sibTrans2D1" presStyleIdx="1" presStyleCnt="4"/>
      <dgm:spPr/>
    </dgm:pt>
    <dgm:pt modelId="{DF8D14F8-25FA-4EB9-9A1F-5009435E6FB8}" type="pres">
      <dgm:prSet presAssocID="{DB45F48A-7A90-4256-9B6C-0868085E2CB0}" presName="node" presStyleLbl="node1" presStyleIdx="2" presStyleCnt="5">
        <dgm:presLayoutVars>
          <dgm:bulletEnabled val="1"/>
        </dgm:presLayoutVars>
      </dgm:prSet>
      <dgm:spPr/>
    </dgm:pt>
    <dgm:pt modelId="{DEE47B25-0320-47AF-9D77-6FABCD193C3C}" type="pres">
      <dgm:prSet presAssocID="{BDEF5618-C221-4EE5-A8CD-B4DBEAF00DD2}" presName="sibTrans" presStyleLbl="sibTrans2D1" presStyleIdx="2" presStyleCnt="4"/>
      <dgm:spPr/>
    </dgm:pt>
    <dgm:pt modelId="{FE3AC464-66D5-4BDD-BAC8-75DE9030D87E}" type="pres">
      <dgm:prSet presAssocID="{BDEF5618-C221-4EE5-A8CD-B4DBEAF00DD2}" presName="connectorText" presStyleLbl="sibTrans2D1" presStyleIdx="2" presStyleCnt="4"/>
      <dgm:spPr/>
    </dgm:pt>
    <dgm:pt modelId="{39CC4AE5-AB25-4F94-B432-03C193ECBC30}" type="pres">
      <dgm:prSet presAssocID="{62CD096A-03B2-4139-B2E0-7B7E7C7CEE2D}" presName="node" presStyleLbl="node1" presStyleIdx="3" presStyleCnt="5">
        <dgm:presLayoutVars>
          <dgm:bulletEnabled val="1"/>
        </dgm:presLayoutVars>
      </dgm:prSet>
      <dgm:spPr/>
    </dgm:pt>
    <dgm:pt modelId="{468F2DC3-9C42-4AED-9B52-C2826D565B61}" type="pres">
      <dgm:prSet presAssocID="{B5951E6E-AEA3-4420-99E5-CE036811912D}" presName="sibTrans" presStyleLbl="sibTrans2D1" presStyleIdx="3" presStyleCnt="4"/>
      <dgm:spPr/>
    </dgm:pt>
    <dgm:pt modelId="{20C2B7F8-C1D6-4B50-8F76-A5D406546116}" type="pres">
      <dgm:prSet presAssocID="{B5951E6E-AEA3-4420-99E5-CE036811912D}" presName="connectorText" presStyleLbl="sibTrans2D1" presStyleIdx="3" presStyleCnt="4"/>
      <dgm:spPr/>
    </dgm:pt>
    <dgm:pt modelId="{EF3E48E5-996A-4682-B81D-362B4A2B8C5D}" type="pres">
      <dgm:prSet presAssocID="{8ED4F6ED-D482-4A0F-8E4A-B53F8730F7EA}" presName="node" presStyleLbl="node1" presStyleIdx="4" presStyleCnt="5">
        <dgm:presLayoutVars>
          <dgm:bulletEnabled val="1"/>
        </dgm:presLayoutVars>
      </dgm:prSet>
      <dgm:spPr/>
    </dgm:pt>
  </dgm:ptLst>
  <dgm:cxnLst>
    <dgm:cxn modelId="{0DE37B03-9C29-40E1-9D6A-4CBFB958A50A}" srcId="{45FBF437-5977-4E38-BAB7-AE02B43CAAA7}" destId="{DB45F48A-7A90-4256-9B6C-0868085E2CB0}" srcOrd="2" destOrd="0" parTransId="{F4F30555-C4EB-4B17-B72D-20D8F073B0EB}" sibTransId="{BDEF5618-C221-4EE5-A8CD-B4DBEAF00DD2}"/>
    <dgm:cxn modelId="{C8928D11-8792-443D-BE39-D0BEC7067B96}" type="presOf" srcId="{45FBF437-5977-4E38-BAB7-AE02B43CAAA7}" destId="{DCF7DAC3-2774-4881-A4C8-336A71712D74}" srcOrd="0" destOrd="0" presId="urn:microsoft.com/office/officeart/2005/8/layout/process1"/>
    <dgm:cxn modelId="{61311813-3A8F-466C-8EB6-4A5532815CA7}" type="presOf" srcId="{62CD096A-03B2-4139-B2E0-7B7E7C7CEE2D}" destId="{39CC4AE5-AB25-4F94-B432-03C193ECBC30}" srcOrd="0" destOrd="0" presId="urn:microsoft.com/office/officeart/2005/8/layout/process1"/>
    <dgm:cxn modelId="{E5BB8038-8CE2-4087-BC82-5D4AD08421A8}" type="presOf" srcId="{BDEF5618-C221-4EE5-A8CD-B4DBEAF00DD2}" destId="{DEE47B25-0320-47AF-9D77-6FABCD193C3C}" srcOrd="0" destOrd="0" presId="urn:microsoft.com/office/officeart/2005/8/layout/process1"/>
    <dgm:cxn modelId="{E992EA48-7A64-4FC2-8600-D7C896EA4675}" srcId="{45FBF437-5977-4E38-BAB7-AE02B43CAAA7}" destId="{069B2F6B-D7AC-4C4A-9B92-E5D67EBAA63A}" srcOrd="0" destOrd="0" parTransId="{01318EA2-30C3-4143-AC36-D88EEF758381}" sibTransId="{36407D3D-1E3D-42FE-9540-65053FAD3DD1}"/>
    <dgm:cxn modelId="{F9DDD773-CDDF-425B-88FE-2EA5FF502EB9}" type="presOf" srcId="{ACE3B148-CF41-4889-9848-E1CB8222BC4D}" destId="{51105930-9C90-461B-AE8A-7D57B6C752E2}" srcOrd="0" destOrd="0" presId="urn:microsoft.com/office/officeart/2005/8/layout/process1"/>
    <dgm:cxn modelId="{70389856-C508-4411-98A7-DDA1E72C3DE7}" type="presOf" srcId="{36407D3D-1E3D-42FE-9540-65053FAD3DD1}" destId="{8FFB5733-2F12-4143-9BF4-AC2C21BD0D22}" srcOrd="0" destOrd="0" presId="urn:microsoft.com/office/officeart/2005/8/layout/process1"/>
    <dgm:cxn modelId="{03F9F694-AD45-4949-992C-68BD78CAF89B}" type="presOf" srcId="{069B2F6B-D7AC-4C4A-9B92-E5D67EBAA63A}" destId="{06432C84-F148-4937-BC74-F26CB55877F3}" srcOrd="0" destOrd="0" presId="urn:microsoft.com/office/officeart/2005/8/layout/process1"/>
    <dgm:cxn modelId="{56169F96-5DAA-430E-8B93-2B505050C099}" type="presOf" srcId="{06A41945-6894-4988-A6C3-3D4B46596351}" destId="{0BF7935A-254D-4F1C-B933-624B77D9F63A}" srcOrd="1" destOrd="0" presId="urn:microsoft.com/office/officeart/2005/8/layout/process1"/>
    <dgm:cxn modelId="{53BEFF98-5308-46CD-8EFD-43AA7912AD91}" type="presOf" srcId="{36407D3D-1E3D-42FE-9540-65053FAD3DD1}" destId="{4233ADE2-79B4-4D88-8616-1DB70BEF53BB}" srcOrd="1" destOrd="0" presId="urn:microsoft.com/office/officeart/2005/8/layout/process1"/>
    <dgm:cxn modelId="{006764AD-4794-4A2F-BAE2-98F32FA8D4BF}" srcId="{45FBF437-5977-4E38-BAB7-AE02B43CAAA7}" destId="{62CD096A-03B2-4139-B2E0-7B7E7C7CEE2D}" srcOrd="3" destOrd="0" parTransId="{58036E8E-2B4A-4E66-BD6E-EE7FFD6D6EC4}" sibTransId="{B5951E6E-AEA3-4420-99E5-CE036811912D}"/>
    <dgm:cxn modelId="{60732FC3-C8CF-4821-9839-531C52478C2B}" type="presOf" srcId="{DB45F48A-7A90-4256-9B6C-0868085E2CB0}" destId="{DF8D14F8-25FA-4EB9-9A1F-5009435E6FB8}" srcOrd="0" destOrd="0" presId="urn:microsoft.com/office/officeart/2005/8/layout/process1"/>
    <dgm:cxn modelId="{3E7AEFCC-0F97-4E31-8265-D8A2D8F90D4B}" type="presOf" srcId="{B5951E6E-AEA3-4420-99E5-CE036811912D}" destId="{20C2B7F8-C1D6-4B50-8F76-A5D406546116}" srcOrd="1" destOrd="0" presId="urn:microsoft.com/office/officeart/2005/8/layout/process1"/>
    <dgm:cxn modelId="{E05AD0D6-09AF-45BD-B556-E42AE47680EA}" srcId="{45FBF437-5977-4E38-BAB7-AE02B43CAAA7}" destId="{ACE3B148-CF41-4889-9848-E1CB8222BC4D}" srcOrd="1" destOrd="0" parTransId="{B1305609-5716-48C8-80C3-E31C472CBD78}" sibTransId="{06A41945-6894-4988-A6C3-3D4B46596351}"/>
    <dgm:cxn modelId="{432E89D7-6AD8-454D-A7AE-31482BAE5AE4}" type="presOf" srcId="{B5951E6E-AEA3-4420-99E5-CE036811912D}" destId="{468F2DC3-9C42-4AED-9B52-C2826D565B61}" srcOrd="0" destOrd="0" presId="urn:microsoft.com/office/officeart/2005/8/layout/process1"/>
    <dgm:cxn modelId="{231F76DF-7807-43D4-843D-39E957AAB804}" type="presOf" srcId="{BDEF5618-C221-4EE5-A8CD-B4DBEAF00DD2}" destId="{FE3AC464-66D5-4BDD-BAC8-75DE9030D87E}" srcOrd="1" destOrd="0" presId="urn:microsoft.com/office/officeart/2005/8/layout/process1"/>
    <dgm:cxn modelId="{962E79E8-FFB1-4598-94DF-0D1A06022DAA}" type="presOf" srcId="{8ED4F6ED-D482-4A0F-8E4A-B53F8730F7EA}" destId="{EF3E48E5-996A-4682-B81D-362B4A2B8C5D}" srcOrd="0" destOrd="0" presId="urn:microsoft.com/office/officeart/2005/8/layout/process1"/>
    <dgm:cxn modelId="{FD8D34ED-EF40-45E2-9573-BB4873C17373}" type="presOf" srcId="{06A41945-6894-4988-A6C3-3D4B46596351}" destId="{80C0F245-1B28-4D3E-9A8C-DDA35B915678}" srcOrd="0" destOrd="0" presId="urn:microsoft.com/office/officeart/2005/8/layout/process1"/>
    <dgm:cxn modelId="{965773FF-0AA2-49B4-9B7B-846DDD2BFABA}" srcId="{45FBF437-5977-4E38-BAB7-AE02B43CAAA7}" destId="{8ED4F6ED-D482-4A0F-8E4A-B53F8730F7EA}" srcOrd="4" destOrd="0" parTransId="{5B09DE3F-4009-47E4-AF60-A3C86DDF8B80}" sibTransId="{955DF26C-25C2-44B5-9E2C-B639AE6A248E}"/>
    <dgm:cxn modelId="{00200B51-3281-4F43-B288-75404B4C2F95}" type="presParOf" srcId="{DCF7DAC3-2774-4881-A4C8-336A71712D74}" destId="{06432C84-F148-4937-BC74-F26CB55877F3}" srcOrd="0" destOrd="0" presId="urn:microsoft.com/office/officeart/2005/8/layout/process1"/>
    <dgm:cxn modelId="{4A9EA56B-2817-41CE-8AB5-695FB9DA76A4}" type="presParOf" srcId="{DCF7DAC3-2774-4881-A4C8-336A71712D74}" destId="{8FFB5733-2F12-4143-9BF4-AC2C21BD0D22}" srcOrd="1" destOrd="0" presId="urn:microsoft.com/office/officeart/2005/8/layout/process1"/>
    <dgm:cxn modelId="{45D315F5-A9F1-426D-B933-50F9FB0B17A6}" type="presParOf" srcId="{8FFB5733-2F12-4143-9BF4-AC2C21BD0D22}" destId="{4233ADE2-79B4-4D88-8616-1DB70BEF53BB}" srcOrd="0" destOrd="0" presId="urn:microsoft.com/office/officeart/2005/8/layout/process1"/>
    <dgm:cxn modelId="{C7B9654D-503B-4575-8FE0-E9CAE7070496}" type="presParOf" srcId="{DCF7DAC3-2774-4881-A4C8-336A71712D74}" destId="{51105930-9C90-461B-AE8A-7D57B6C752E2}" srcOrd="2" destOrd="0" presId="urn:microsoft.com/office/officeart/2005/8/layout/process1"/>
    <dgm:cxn modelId="{CEBF8650-5367-4134-85AF-77A5D386F9B2}" type="presParOf" srcId="{DCF7DAC3-2774-4881-A4C8-336A71712D74}" destId="{80C0F245-1B28-4D3E-9A8C-DDA35B915678}" srcOrd="3" destOrd="0" presId="urn:microsoft.com/office/officeart/2005/8/layout/process1"/>
    <dgm:cxn modelId="{462940AC-9C2C-4D71-8F8E-E10AF999D980}" type="presParOf" srcId="{80C0F245-1B28-4D3E-9A8C-DDA35B915678}" destId="{0BF7935A-254D-4F1C-B933-624B77D9F63A}" srcOrd="0" destOrd="0" presId="urn:microsoft.com/office/officeart/2005/8/layout/process1"/>
    <dgm:cxn modelId="{A2D632CC-18A4-4BBD-966F-3B1F04BF2002}" type="presParOf" srcId="{DCF7DAC3-2774-4881-A4C8-336A71712D74}" destId="{DF8D14F8-25FA-4EB9-9A1F-5009435E6FB8}" srcOrd="4" destOrd="0" presId="urn:microsoft.com/office/officeart/2005/8/layout/process1"/>
    <dgm:cxn modelId="{6E434CE4-220C-4D82-8717-3F2BF3E5C661}" type="presParOf" srcId="{DCF7DAC3-2774-4881-A4C8-336A71712D74}" destId="{DEE47B25-0320-47AF-9D77-6FABCD193C3C}" srcOrd="5" destOrd="0" presId="urn:microsoft.com/office/officeart/2005/8/layout/process1"/>
    <dgm:cxn modelId="{03A85B30-C0AD-4050-8A2A-BD26805E1422}" type="presParOf" srcId="{DEE47B25-0320-47AF-9D77-6FABCD193C3C}" destId="{FE3AC464-66D5-4BDD-BAC8-75DE9030D87E}" srcOrd="0" destOrd="0" presId="urn:microsoft.com/office/officeart/2005/8/layout/process1"/>
    <dgm:cxn modelId="{4DE2CD6F-5BAD-49B0-9529-8206517278F9}" type="presParOf" srcId="{DCF7DAC3-2774-4881-A4C8-336A71712D74}" destId="{39CC4AE5-AB25-4F94-B432-03C193ECBC30}" srcOrd="6" destOrd="0" presId="urn:microsoft.com/office/officeart/2005/8/layout/process1"/>
    <dgm:cxn modelId="{C4C86BF2-E2DF-4418-9FA5-61FFB6D55AAB}" type="presParOf" srcId="{DCF7DAC3-2774-4881-A4C8-336A71712D74}" destId="{468F2DC3-9C42-4AED-9B52-C2826D565B61}" srcOrd="7" destOrd="0" presId="urn:microsoft.com/office/officeart/2005/8/layout/process1"/>
    <dgm:cxn modelId="{4B6602E4-4615-4633-B8DC-AB8ADEA6D74B}" type="presParOf" srcId="{468F2DC3-9C42-4AED-9B52-C2826D565B61}" destId="{20C2B7F8-C1D6-4B50-8F76-A5D406546116}" srcOrd="0" destOrd="0" presId="urn:microsoft.com/office/officeart/2005/8/layout/process1"/>
    <dgm:cxn modelId="{6CDAD16E-7B22-4289-B0AB-6AB85EE9C01D}" type="presParOf" srcId="{DCF7DAC3-2774-4881-A4C8-336A71712D74}" destId="{EF3E48E5-996A-4682-B81D-362B4A2B8C5D}"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432C84-F148-4937-BC74-F26CB55877F3}">
      <dsp:nvSpPr>
        <dsp:cNvPr id="0" name=""/>
        <dsp:cNvSpPr/>
      </dsp:nvSpPr>
      <dsp:spPr>
        <a:xfrm>
          <a:off x="3160" y="184226"/>
          <a:ext cx="979674" cy="94599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latin typeface="Poppins" panose="00000500000000000000" pitchFamily="2" charset="0"/>
              <a:cs typeface="Poppins" panose="00000500000000000000" pitchFamily="2" charset="0"/>
            </a:rPr>
            <a:t>User selects mandatory Unit*, From Date*, To Date*, and optional Search keyword</a:t>
          </a:r>
        </a:p>
      </dsp:txBody>
      <dsp:txXfrm>
        <a:off x="30867" y="211933"/>
        <a:ext cx="924260" cy="890583"/>
      </dsp:txXfrm>
    </dsp:sp>
    <dsp:sp modelId="{8FFB5733-2F12-4143-9BF4-AC2C21BD0D22}">
      <dsp:nvSpPr>
        <dsp:cNvPr id="0" name=""/>
        <dsp:cNvSpPr/>
      </dsp:nvSpPr>
      <dsp:spPr>
        <a:xfrm>
          <a:off x="1080801" y="535745"/>
          <a:ext cx="207690" cy="24295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1080801" y="584337"/>
        <a:ext cx="145383" cy="145775"/>
      </dsp:txXfrm>
    </dsp:sp>
    <dsp:sp modelId="{51105930-9C90-461B-AE8A-7D57B6C752E2}">
      <dsp:nvSpPr>
        <dsp:cNvPr id="0" name=""/>
        <dsp:cNvSpPr/>
      </dsp:nvSpPr>
      <dsp:spPr>
        <a:xfrm>
          <a:off x="1374703" y="184226"/>
          <a:ext cx="979674" cy="94599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latin typeface="Poppins" panose="00000500000000000000" pitchFamily="2" charset="0"/>
              <a:cs typeface="Poppins" panose="00000500000000000000" pitchFamily="2" charset="0"/>
            </a:rPr>
            <a:t>System executes optimized view joining Receive, Batch, and Size QC tables</a:t>
          </a:r>
        </a:p>
      </dsp:txBody>
      <dsp:txXfrm>
        <a:off x="1402410" y="211933"/>
        <a:ext cx="924260" cy="890583"/>
      </dsp:txXfrm>
    </dsp:sp>
    <dsp:sp modelId="{80C0F245-1B28-4D3E-9A8C-DDA35B915678}">
      <dsp:nvSpPr>
        <dsp:cNvPr id="0" name=""/>
        <dsp:cNvSpPr/>
      </dsp:nvSpPr>
      <dsp:spPr>
        <a:xfrm>
          <a:off x="2452345" y="535745"/>
          <a:ext cx="207690" cy="24295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2452345" y="584337"/>
        <a:ext cx="145383" cy="145775"/>
      </dsp:txXfrm>
    </dsp:sp>
    <dsp:sp modelId="{DF8D14F8-25FA-4EB9-9A1F-5009435E6FB8}">
      <dsp:nvSpPr>
        <dsp:cNvPr id="0" name=""/>
        <dsp:cNvSpPr/>
      </dsp:nvSpPr>
      <dsp:spPr>
        <a:xfrm>
          <a:off x="2746247" y="184226"/>
          <a:ext cx="979674" cy="94599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latin typeface="Poppins" panose="00000500000000000000" pitchFamily="2" charset="0"/>
              <a:cs typeface="Poppins" panose="00000500000000000000" pitchFamily="2" charset="0"/>
            </a:rPr>
            <a:t>Group rows by Job/Order/UoM; aggregate checks, rejections, and size buckets</a:t>
          </a:r>
        </a:p>
      </dsp:txBody>
      <dsp:txXfrm>
        <a:off x="2773954" y="211933"/>
        <a:ext cx="924260" cy="890583"/>
      </dsp:txXfrm>
    </dsp:sp>
    <dsp:sp modelId="{DEE47B25-0320-47AF-9D77-6FABCD193C3C}">
      <dsp:nvSpPr>
        <dsp:cNvPr id="0" name=""/>
        <dsp:cNvSpPr/>
      </dsp:nvSpPr>
      <dsp:spPr>
        <a:xfrm>
          <a:off x="3823888" y="535745"/>
          <a:ext cx="207690" cy="24295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3823888" y="584337"/>
        <a:ext cx="145383" cy="145775"/>
      </dsp:txXfrm>
    </dsp:sp>
    <dsp:sp modelId="{39CC4AE5-AB25-4F94-B432-03C193ECBC30}">
      <dsp:nvSpPr>
        <dsp:cNvPr id="0" name=""/>
        <dsp:cNvSpPr/>
      </dsp:nvSpPr>
      <dsp:spPr>
        <a:xfrm>
          <a:off x="4117791" y="184226"/>
          <a:ext cx="979674" cy="94599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latin typeface="Poppins" panose="00000500000000000000" pitchFamily="2" charset="0"/>
              <a:cs typeface="Poppins" panose="00000500000000000000" pitchFamily="2" charset="0"/>
            </a:rPr>
            <a:t>Calculated Field &amp; Rule Processing </a:t>
          </a:r>
        </a:p>
      </dsp:txBody>
      <dsp:txXfrm>
        <a:off x="4145498" y="211933"/>
        <a:ext cx="924260" cy="890583"/>
      </dsp:txXfrm>
    </dsp:sp>
    <dsp:sp modelId="{468F2DC3-9C42-4AED-9B52-C2826D565B61}">
      <dsp:nvSpPr>
        <dsp:cNvPr id="0" name=""/>
        <dsp:cNvSpPr/>
      </dsp:nvSpPr>
      <dsp:spPr>
        <a:xfrm>
          <a:off x="5195432" y="535745"/>
          <a:ext cx="207690" cy="24295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5195432" y="584337"/>
        <a:ext cx="145383" cy="145775"/>
      </dsp:txXfrm>
    </dsp:sp>
    <dsp:sp modelId="{EF3E48E5-996A-4682-B81D-362B4A2B8C5D}">
      <dsp:nvSpPr>
        <dsp:cNvPr id="0" name=""/>
        <dsp:cNvSpPr/>
      </dsp:nvSpPr>
      <dsp:spPr>
        <a:xfrm>
          <a:off x="5489334" y="184226"/>
          <a:ext cx="979674" cy="94599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latin typeface="Poppins" panose="00000500000000000000" pitchFamily="2" charset="0"/>
              <a:cs typeface="Poppins" panose="00000500000000000000" pitchFamily="2" charset="0"/>
            </a:rPr>
            <a:t>Display data grid</a:t>
          </a:r>
        </a:p>
      </dsp:txBody>
      <dsp:txXfrm>
        <a:off x="5517041" y="211933"/>
        <a:ext cx="924260" cy="890583"/>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7224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6658484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4994513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2699395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899232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8/18/2026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0816874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8/18/2026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916549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8/18/2026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8492489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125412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1645787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2120121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9549412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6996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8/18/2026</a:t>
            </a:fld>
            <a:endParaRPr lang="en-US" dirty="0"/>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402061661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Group 133">
            <a:extLst>
              <a:ext uri="{FF2B5EF4-FFF2-40B4-BE49-F238E27FC236}">
                <a16:creationId xmlns:a16="http://schemas.microsoft.com/office/drawing/2014/main" id="{8C23DEEA-2643-EADF-32C0-2DCBAB8B3BD5}"/>
              </a:ext>
            </a:extLst>
          </p:cNvPr>
          <p:cNvGrpSpPr/>
          <p:nvPr/>
        </p:nvGrpSpPr>
        <p:grpSpPr>
          <a:xfrm>
            <a:off x="139483" y="2560173"/>
            <a:ext cx="6418800" cy="209881"/>
            <a:chOff x="0" y="0"/>
            <a:chExt cx="2300353" cy="75216"/>
          </a:xfrm>
        </p:grpSpPr>
        <p:sp>
          <p:nvSpPr>
            <p:cNvPr id="65" name="Freeform 134">
              <a:extLst>
                <a:ext uri="{FF2B5EF4-FFF2-40B4-BE49-F238E27FC236}">
                  <a16:creationId xmlns:a16="http://schemas.microsoft.com/office/drawing/2014/main" id="{7CC83AE8-3E4C-CC8D-2CA5-2D9F80F93285}"/>
                </a:ext>
              </a:extLst>
            </p:cNvPr>
            <p:cNvSpPr/>
            <p:nvPr/>
          </p:nvSpPr>
          <p:spPr>
            <a:xfrm>
              <a:off x="0" y="0"/>
              <a:ext cx="2300353" cy="75216"/>
            </a:xfrm>
            <a:custGeom>
              <a:avLst/>
              <a:gdLst/>
              <a:ahLst/>
              <a:cxnLst/>
              <a:rect l="l" t="t" r="r" b="b"/>
              <a:pathLst>
                <a:path w="2300353" h="75216">
                  <a:moveTo>
                    <a:pt x="0" y="0"/>
                  </a:moveTo>
                  <a:lnTo>
                    <a:pt x="2300353" y="0"/>
                  </a:lnTo>
                  <a:lnTo>
                    <a:pt x="2300353" y="75216"/>
                  </a:lnTo>
                  <a:lnTo>
                    <a:pt x="0" y="75216"/>
                  </a:lnTo>
                  <a:close/>
                </a:path>
              </a:pathLst>
            </a:custGeom>
            <a:solidFill>
              <a:srgbClr val="EBEBE7">
                <a:alpha val="60000"/>
              </a:srgbClr>
            </a:solidFill>
          </p:spPr>
          <p:txBody>
            <a:bodyPr/>
            <a:lstStyle/>
            <a:p>
              <a:endParaRPr lang="en-US"/>
            </a:p>
          </p:txBody>
        </p:sp>
        <p:sp>
          <p:nvSpPr>
            <p:cNvPr id="66" name="TextBox 135">
              <a:extLst>
                <a:ext uri="{FF2B5EF4-FFF2-40B4-BE49-F238E27FC236}">
                  <a16:creationId xmlns:a16="http://schemas.microsoft.com/office/drawing/2014/main" id="{3A701B9A-BD31-7233-FDBE-FB480B7CE52C}"/>
                </a:ext>
              </a:extLst>
            </p:cNvPr>
            <p:cNvSpPr txBox="1"/>
            <p:nvPr/>
          </p:nvSpPr>
          <p:spPr>
            <a:xfrm>
              <a:off x="0" y="-47625"/>
              <a:ext cx="2300353" cy="122841"/>
            </a:xfrm>
            <a:prstGeom prst="rect">
              <a:avLst/>
            </a:prstGeom>
          </p:spPr>
          <p:txBody>
            <a:bodyPr lIns="50800" tIns="50800" rIns="50800" bIns="50800" rtlCol="0" anchor="ctr"/>
            <a:lstStyle/>
            <a:p>
              <a:pPr algn="ctr">
                <a:lnSpc>
                  <a:spcPts val="1959"/>
                </a:lnSpc>
              </a:pPr>
              <a:endParaRPr/>
            </a:p>
          </p:txBody>
        </p:sp>
      </p:grpSp>
      <p:sp>
        <p:nvSpPr>
          <p:cNvPr id="4" name="Rectangle 3">
            <a:extLst>
              <a:ext uri="{FF2B5EF4-FFF2-40B4-BE49-F238E27FC236}">
                <a16:creationId xmlns:a16="http://schemas.microsoft.com/office/drawing/2014/main" id="{E569BAEF-2FB5-0AFE-C9E0-4101320BFF4F}"/>
              </a:ext>
            </a:extLst>
          </p:cNvPr>
          <p:cNvSpPr/>
          <p:nvPr/>
        </p:nvSpPr>
        <p:spPr>
          <a:xfrm>
            <a:off x="0" y="0"/>
            <a:ext cx="3733800" cy="123908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1155ADD-9232-321A-DA2D-CD5499A2FC4B}"/>
              </a:ext>
            </a:extLst>
          </p:cNvPr>
          <p:cNvPicPr>
            <a:picLocks noChangeAspect="1"/>
          </p:cNvPicPr>
          <p:nvPr/>
        </p:nvPicPr>
        <p:blipFill>
          <a:blip r:embed="rId2"/>
          <a:stretch>
            <a:fillRect/>
          </a:stretch>
        </p:blipFill>
        <p:spPr>
          <a:xfrm>
            <a:off x="152400" y="164193"/>
            <a:ext cx="685800" cy="685800"/>
          </a:xfrm>
          <a:prstGeom prst="rect">
            <a:avLst/>
          </a:prstGeom>
        </p:spPr>
      </p:pic>
      <p:sp>
        <p:nvSpPr>
          <p:cNvPr id="5" name="TextBox 4">
            <a:extLst>
              <a:ext uri="{FF2B5EF4-FFF2-40B4-BE49-F238E27FC236}">
                <a16:creationId xmlns:a16="http://schemas.microsoft.com/office/drawing/2014/main" id="{D0254683-C468-112F-7269-200421936907}"/>
              </a:ext>
            </a:extLst>
          </p:cNvPr>
          <p:cNvSpPr txBox="1"/>
          <p:nvPr/>
        </p:nvSpPr>
        <p:spPr>
          <a:xfrm>
            <a:off x="990600" y="0"/>
            <a:ext cx="5105400" cy="1200329"/>
          </a:xfrm>
          <a:prstGeom prst="rect">
            <a:avLst/>
          </a:prstGeom>
          <a:noFill/>
        </p:spPr>
        <p:txBody>
          <a:bodyPr wrap="square" rtlCol="0">
            <a:spAutoFit/>
          </a:bodyPr>
          <a:lstStyle/>
          <a:p>
            <a:r>
              <a:rPr lang="en-US" sz="2400" b="1" dirty="0">
                <a:latin typeface="Tahoma" panose="020B0604030504040204" pitchFamily="34" charset="0"/>
                <a:ea typeface="Tahoma" panose="020B0604030504040204" pitchFamily="34" charset="0"/>
                <a:cs typeface="Tahoma" panose="020B0604030504040204" pitchFamily="34" charset="0"/>
              </a:rPr>
              <a:t>Software </a:t>
            </a:r>
            <a:br>
              <a:rPr lang="en-US" sz="2400" b="1" dirty="0">
                <a:latin typeface="Tahoma" panose="020B0604030504040204" pitchFamily="34" charset="0"/>
                <a:ea typeface="Tahoma" panose="020B0604030504040204" pitchFamily="34" charset="0"/>
                <a:cs typeface="Tahoma" panose="020B0604030504040204" pitchFamily="34" charset="0"/>
              </a:rPr>
            </a:br>
            <a:r>
              <a:rPr lang="en-US" sz="2400" b="1" dirty="0">
                <a:latin typeface="Tahoma" panose="020B0604030504040204" pitchFamily="34" charset="0"/>
                <a:ea typeface="Tahoma" panose="020B0604030504040204" pitchFamily="34" charset="0"/>
                <a:cs typeface="Tahoma" panose="020B0604030504040204" pitchFamily="34" charset="0"/>
              </a:rPr>
              <a:t>Requirements </a:t>
            </a:r>
          </a:p>
          <a:p>
            <a:r>
              <a:rPr lang="en-US" sz="2400" b="1">
                <a:latin typeface="Tahoma" panose="020B0604030504040204" pitchFamily="34" charset="0"/>
                <a:ea typeface="Tahoma" panose="020B0604030504040204" pitchFamily="34" charset="0"/>
                <a:cs typeface="Tahoma" panose="020B0604030504040204" pitchFamily="34" charset="0"/>
              </a:rPr>
              <a:t>Specification</a:t>
            </a:r>
            <a:endParaRPr lang="en-US" sz="2400" b="1" dirty="0">
              <a:latin typeface="Tahoma" panose="020B0604030504040204" pitchFamily="34" charset="0"/>
              <a:ea typeface="Tahoma" panose="020B0604030504040204" pitchFamily="34" charset="0"/>
              <a:cs typeface="Tahoma" panose="020B0604030504040204" pitchFamily="34" charset="0"/>
            </a:endParaRPr>
          </a:p>
        </p:txBody>
      </p:sp>
      <p:sp>
        <p:nvSpPr>
          <p:cNvPr id="6" name="TextBox 5">
            <a:extLst>
              <a:ext uri="{FF2B5EF4-FFF2-40B4-BE49-F238E27FC236}">
                <a16:creationId xmlns:a16="http://schemas.microsoft.com/office/drawing/2014/main" id="{A212A95B-CA70-34B2-2627-732F3EA1AA06}"/>
              </a:ext>
            </a:extLst>
          </p:cNvPr>
          <p:cNvSpPr txBox="1"/>
          <p:nvPr/>
        </p:nvSpPr>
        <p:spPr>
          <a:xfrm>
            <a:off x="5962915" y="1260930"/>
            <a:ext cx="838200" cy="276999"/>
          </a:xfrm>
          <a:prstGeom prst="rect">
            <a:avLst/>
          </a:prstGeom>
          <a:noFill/>
        </p:spPr>
        <p:txBody>
          <a:bodyPr wrap="square" rtlCol="0">
            <a:spAutoFit/>
          </a:bodyPr>
          <a:lstStyle/>
          <a:p>
            <a:pPr algn="ctr"/>
            <a:r>
              <a:rPr lang="en-US" sz="1200" b="1" dirty="0">
                <a:solidFill>
                  <a:schemeClr val="bg2">
                    <a:lumMod val="75000"/>
                  </a:schemeClr>
                </a:solidFill>
                <a:latin typeface="Tahoma" panose="020B0604030504040204" pitchFamily="34" charset="0"/>
                <a:ea typeface="Tahoma" panose="020B0604030504040204" pitchFamily="34" charset="0"/>
                <a:cs typeface="Tahoma" panose="020B0604030504040204" pitchFamily="34" charset="0"/>
              </a:rPr>
              <a:t>Wash</a:t>
            </a:r>
          </a:p>
        </p:txBody>
      </p:sp>
      <p:grpSp>
        <p:nvGrpSpPr>
          <p:cNvPr id="7" name="Group 133">
            <a:extLst>
              <a:ext uri="{FF2B5EF4-FFF2-40B4-BE49-F238E27FC236}">
                <a16:creationId xmlns:a16="http://schemas.microsoft.com/office/drawing/2014/main" id="{59333251-F7F4-FFA0-00CA-BDBE5B44C913}"/>
              </a:ext>
            </a:extLst>
          </p:cNvPr>
          <p:cNvGrpSpPr/>
          <p:nvPr/>
        </p:nvGrpSpPr>
        <p:grpSpPr>
          <a:xfrm>
            <a:off x="152400" y="1808387"/>
            <a:ext cx="6418800" cy="209881"/>
            <a:chOff x="0" y="0"/>
            <a:chExt cx="2300353" cy="75216"/>
          </a:xfrm>
        </p:grpSpPr>
        <p:sp>
          <p:nvSpPr>
            <p:cNvPr id="8" name="Freeform 134">
              <a:extLst>
                <a:ext uri="{FF2B5EF4-FFF2-40B4-BE49-F238E27FC236}">
                  <a16:creationId xmlns:a16="http://schemas.microsoft.com/office/drawing/2014/main" id="{504EE4D1-7E16-F580-B1A3-56ADE06DB388}"/>
                </a:ext>
              </a:extLst>
            </p:cNvPr>
            <p:cNvSpPr/>
            <p:nvPr/>
          </p:nvSpPr>
          <p:spPr>
            <a:xfrm>
              <a:off x="0" y="0"/>
              <a:ext cx="2300353" cy="75216"/>
            </a:xfrm>
            <a:custGeom>
              <a:avLst/>
              <a:gdLst/>
              <a:ahLst/>
              <a:cxnLst/>
              <a:rect l="l" t="t" r="r" b="b"/>
              <a:pathLst>
                <a:path w="2300353" h="75216">
                  <a:moveTo>
                    <a:pt x="0" y="0"/>
                  </a:moveTo>
                  <a:lnTo>
                    <a:pt x="2300353" y="0"/>
                  </a:lnTo>
                  <a:lnTo>
                    <a:pt x="2300353" y="75216"/>
                  </a:lnTo>
                  <a:lnTo>
                    <a:pt x="0" y="75216"/>
                  </a:lnTo>
                  <a:close/>
                </a:path>
              </a:pathLst>
            </a:custGeom>
            <a:solidFill>
              <a:srgbClr val="EBEBE7">
                <a:alpha val="60000"/>
              </a:srgbClr>
            </a:solidFill>
          </p:spPr>
          <p:txBody>
            <a:bodyPr/>
            <a:lstStyle/>
            <a:p>
              <a:endParaRPr lang="en-US"/>
            </a:p>
          </p:txBody>
        </p:sp>
        <p:sp>
          <p:nvSpPr>
            <p:cNvPr id="9" name="TextBox 135">
              <a:extLst>
                <a:ext uri="{FF2B5EF4-FFF2-40B4-BE49-F238E27FC236}">
                  <a16:creationId xmlns:a16="http://schemas.microsoft.com/office/drawing/2014/main" id="{98D1CF86-0E92-DF2E-C0C1-4A8CD666F472}"/>
                </a:ext>
              </a:extLst>
            </p:cNvPr>
            <p:cNvSpPr txBox="1"/>
            <p:nvPr/>
          </p:nvSpPr>
          <p:spPr>
            <a:xfrm>
              <a:off x="0" y="-47625"/>
              <a:ext cx="2300353" cy="122841"/>
            </a:xfrm>
            <a:prstGeom prst="rect">
              <a:avLst/>
            </a:prstGeom>
          </p:spPr>
          <p:txBody>
            <a:bodyPr lIns="50800" tIns="50800" rIns="50800" bIns="50800" rtlCol="0" anchor="ctr"/>
            <a:lstStyle/>
            <a:p>
              <a:pPr algn="ctr">
                <a:lnSpc>
                  <a:spcPts val="1959"/>
                </a:lnSpc>
              </a:pPr>
              <a:endParaRPr/>
            </a:p>
          </p:txBody>
        </p:sp>
      </p:grpSp>
      <p:grpSp>
        <p:nvGrpSpPr>
          <p:cNvPr id="10" name="Group 136">
            <a:extLst>
              <a:ext uri="{FF2B5EF4-FFF2-40B4-BE49-F238E27FC236}">
                <a16:creationId xmlns:a16="http://schemas.microsoft.com/office/drawing/2014/main" id="{93D65F60-AFBE-96A6-04EE-2D9A13B5DC37}"/>
              </a:ext>
            </a:extLst>
          </p:cNvPr>
          <p:cNvGrpSpPr/>
          <p:nvPr/>
        </p:nvGrpSpPr>
        <p:grpSpPr>
          <a:xfrm>
            <a:off x="152400" y="2046270"/>
            <a:ext cx="6418800" cy="209881"/>
            <a:chOff x="0" y="0"/>
            <a:chExt cx="2300353" cy="75216"/>
          </a:xfrm>
        </p:grpSpPr>
        <p:sp>
          <p:nvSpPr>
            <p:cNvPr id="11" name="Freeform 137">
              <a:extLst>
                <a:ext uri="{FF2B5EF4-FFF2-40B4-BE49-F238E27FC236}">
                  <a16:creationId xmlns:a16="http://schemas.microsoft.com/office/drawing/2014/main" id="{C6DABB2C-A970-31CC-10BA-58339F8D8C87}"/>
                </a:ext>
              </a:extLst>
            </p:cNvPr>
            <p:cNvSpPr/>
            <p:nvPr/>
          </p:nvSpPr>
          <p:spPr>
            <a:xfrm>
              <a:off x="0" y="0"/>
              <a:ext cx="2300353" cy="75216"/>
            </a:xfrm>
            <a:custGeom>
              <a:avLst/>
              <a:gdLst/>
              <a:ahLst/>
              <a:cxnLst/>
              <a:rect l="l" t="t" r="r" b="b"/>
              <a:pathLst>
                <a:path w="2300353" h="75216">
                  <a:moveTo>
                    <a:pt x="0" y="0"/>
                  </a:moveTo>
                  <a:lnTo>
                    <a:pt x="2300353" y="0"/>
                  </a:lnTo>
                  <a:lnTo>
                    <a:pt x="2300353" y="75216"/>
                  </a:lnTo>
                  <a:lnTo>
                    <a:pt x="0" y="75216"/>
                  </a:lnTo>
                  <a:close/>
                </a:path>
              </a:pathLst>
            </a:custGeom>
            <a:solidFill>
              <a:srgbClr val="EBEBE7">
                <a:alpha val="60000"/>
              </a:srgbClr>
            </a:solidFill>
          </p:spPr>
          <p:txBody>
            <a:bodyPr/>
            <a:lstStyle/>
            <a:p>
              <a:endParaRPr lang="en-US"/>
            </a:p>
          </p:txBody>
        </p:sp>
        <p:sp>
          <p:nvSpPr>
            <p:cNvPr id="12" name="TextBox 138">
              <a:extLst>
                <a:ext uri="{FF2B5EF4-FFF2-40B4-BE49-F238E27FC236}">
                  <a16:creationId xmlns:a16="http://schemas.microsoft.com/office/drawing/2014/main" id="{A7091238-B863-3E3E-CD5F-15A28D81044A}"/>
                </a:ext>
              </a:extLst>
            </p:cNvPr>
            <p:cNvSpPr txBox="1"/>
            <p:nvPr/>
          </p:nvSpPr>
          <p:spPr>
            <a:xfrm>
              <a:off x="0" y="-47625"/>
              <a:ext cx="2300353" cy="122841"/>
            </a:xfrm>
            <a:prstGeom prst="rect">
              <a:avLst/>
            </a:prstGeom>
          </p:spPr>
          <p:txBody>
            <a:bodyPr lIns="50800" tIns="50800" rIns="50800" bIns="50800" rtlCol="0" anchor="ctr"/>
            <a:lstStyle/>
            <a:p>
              <a:pPr algn="ctr">
                <a:lnSpc>
                  <a:spcPts val="1959"/>
                </a:lnSpc>
              </a:pPr>
              <a:endParaRPr/>
            </a:p>
          </p:txBody>
        </p:sp>
      </p:grpSp>
      <p:grpSp>
        <p:nvGrpSpPr>
          <p:cNvPr id="13" name="Group 139">
            <a:extLst>
              <a:ext uri="{FF2B5EF4-FFF2-40B4-BE49-F238E27FC236}">
                <a16:creationId xmlns:a16="http://schemas.microsoft.com/office/drawing/2014/main" id="{C871D53A-B17C-895A-8E0B-422652A6CD68}"/>
              </a:ext>
            </a:extLst>
          </p:cNvPr>
          <p:cNvGrpSpPr/>
          <p:nvPr/>
        </p:nvGrpSpPr>
        <p:grpSpPr>
          <a:xfrm>
            <a:off x="145831" y="2299004"/>
            <a:ext cx="6418800" cy="231869"/>
            <a:chOff x="0" y="0"/>
            <a:chExt cx="2300353" cy="75216"/>
          </a:xfrm>
        </p:grpSpPr>
        <p:sp>
          <p:nvSpPr>
            <p:cNvPr id="14" name="Freeform 140">
              <a:extLst>
                <a:ext uri="{FF2B5EF4-FFF2-40B4-BE49-F238E27FC236}">
                  <a16:creationId xmlns:a16="http://schemas.microsoft.com/office/drawing/2014/main" id="{ED786CF2-1DF4-AF95-A8B2-DC364CA52407}"/>
                </a:ext>
              </a:extLst>
            </p:cNvPr>
            <p:cNvSpPr/>
            <p:nvPr/>
          </p:nvSpPr>
          <p:spPr>
            <a:xfrm>
              <a:off x="0" y="0"/>
              <a:ext cx="2300353" cy="75216"/>
            </a:xfrm>
            <a:custGeom>
              <a:avLst/>
              <a:gdLst/>
              <a:ahLst/>
              <a:cxnLst/>
              <a:rect l="l" t="t" r="r" b="b"/>
              <a:pathLst>
                <a:path w="2300353" h="75216">
                  <a:moveTo>
                    <a:pt x="0" y="0"/>
                  </a:moveTo>
                  <a:lnTo>
                    <a:pt x="2300353" y="0"/>
                  </a:lnTo>
                  <a:lnTo>
                    <a:pt x="2300353" y="75216"/>
                  </a:lnTo>
                  <a:lnTo>
                    <a:pt x="0" y="75216"/>
                  </a:lnTo>
                  <a:close/>
                </a:path>
              </a:pathLst>
            </a:custGeom>
            <a:solidFill>
              <a:srgbClr val="EBEBE7">
                <a:alpha val="60000"/>
              </a:srgbClr>
            </a:solidFill>
          </p:spPr>
          <p:txBody>
            <a:bodyPr/>
            <a:lstStyle/>
            <a:p>
              <a:endParaRPr lang="en-US"/>
            </a:p>
          </p:txBody>
        </p:sp>
        <p:sp>
          <p:nvSpPr>
            <p:cNvPr id="15" name="TextBox 141">
              <a:extLst>
                <a:ext uri="{FF2B5EF4-FFF2-40B4-BE49-F238E27FC236}">
                  <a16:creationId xmlns:a16="http://schemas.microsoft.com/office/drawing/2014/main" id="{DB8C7965-9924-3290-BB39-CD87F9A4036C}"/>
                </a:ext>
              </a:extLst>
            </p:cNvPr>
            <p:cNvSpPr txBox="1"/>
            <p:nvPr/>
          </p:nvSpPr>
          <p:spPr>
            <a:xfrm>
              <a:off x="0" y="-47625"/>
              <a:ext cx="2300353" cy="122841"/>
            </a:xfrm>
            <a:prstGeom prst="rect">
              <a:avLst/>
            </a:prstGeom>
          </p:spPr>
          <p:txBody>
            <a:bodyPr lIns="50800" tIns="50800" rIns="50800" bIns="50800" rtlCol="0" anchor="ctr"/>
            <a:lstStyle/>
            <a:p>
              <a:pPr algn="ctr">
                <a:lnSpc>
                  <a:spcPts val="1959"/>
                </a:lnSpc>
              </a:pPr>
              <a:endParaRPr/>
            </a:p>
          </p:txBody>
        </p:sp>
      </p:grpSp>
      <p:sp>
        <p:nvSpPr>
          <p:cNvPr id="16" name="TextBox 159">
            <a:extLst>
              <a:ext uri="{FF2B5EF4-FFF2-40B4-BE49-F238E27FC236}">
                <a16:creationId xmlns:a16="http://schemas.microsoft.com/office/drawing/2014/main" id="{CF3AD528-942B-500B-FFCA-C0D2562CE3D2}"/>
              </a:ext>
            </a:extLst>
          </p:cNvPr>
          <p:cNvSpPr txBox="1"/>
          <p:nvPr/>
        </p:nvSpPr>
        <p:spPr>
          <a:xfrm>
            <a:off x="217200" y="1807776"/>
            <a:ext cx="1375381" cy="170560"/>
          </a:xfrm>
          <a:prstGeom prst="rect">
            <a:avLst/>
          </a:prstGeom>
        </p:spPr>
        <p:txBody>
          <a:bodyPr wrap="square" lIns="0" tIns="0" rIns="0" bIns="0" rtlCol="0" anchor="t">
            <a:spAutoFit/>
          </a:bodyPr>
          <a:lstStyle/>
          <a:p>
            <a:pPr algn="l">
              <a:lnSpc>
                <a:spcPts val="1400"/>
              </a:lnSpc>
              <a:spcBef>
                <a:spcPct val="0"/>
              </a:spcBef>
            </a:pPr>
            <a:r>
              <a:rPr lang="en-US" sz="1000" b="1" dirty="0">
                <a:solidFill>
                  <a:srgbClr val="000000"/>
                </a:solidFill>
                <a:latin typeface="Poppins"/>
                <a:ea typeface="Poppins"/>
                <a:cs typeface="Poppins"/>
                <a:sym typeface="Poppins"/>
              </a:rPr>
              <a:t>Project Name		</a:t>
            </a:r>
            <a:endParaRPr lang="en-US" sz="1000" dirty="0">
              <a:solidFill>
                <a:srgbClr val="000000"/>
              </a:solidFill>
              <a:latin typeface="Poppins"/>
              <a:ea typeface="Poppins"/>
              <a:cs typeface="Poppins"/>
              <a:sym typeface="Poppins"/>
            </a:endParaRPr>
          </a:p>
        </p:txBody>
      </p:sp>
      <p:sp>
        <p:nvSpPr>
          <p:cNvPr id="17" name="TextBox 160">
            <a:extLst>
              <a:ext uri="{FF2B5EF4-FFF2-40B4-BE49-F238E27FC236}">
                <a16:creationId xmlns:a16="http://schemas.microsoft.com/office/drawing/2014/main" id="{0B92F6C3-F320-96A0-6683-3DC154B79DBF}"/>
              </a:ext>
            </a:extLst>
          </p:cNvPr>
          <p:cNvSpPr txBox="1"/>
          <p:nvPr/>
        </p:nvSpPr>
        <p:spPr>
          <a:xfrm>
            <a:off x="217199" y="2049610"/>
            <a:ext cx="1375382" cy="170560"/>
          </a:xfrm>
          <a:prstGeom prst="rect">
            <a:avLst/>
          </a:prstGeom>
        </p:spPr>
        <p:txBody>
          <a:bodyPr wrap="square" lIns="0" tIns="0" rIns="0" bIns="0" rtlCol="0" anchor="t">
            <a:spAutoFit/>
          </a:bodyPr>
          <a:lstStyle/>
          <a:p>
            <a:pPr algn="l">
              <a:lnSpc>
                <a:spcPts val="1400"/>
              </a:lnSpc>
              <a:spcBef>
                <a:spcPct val="0"/>
              </a:spcBef>
            </a:pPr>
            <a:r>
              <a:rPr lang="en-US" sz="1000" b="1" dirty="0">
                <a:solidFill>
                  <a:srgbClr val="000000"/>
                </a:solidFill>
                <a:latin typeface="Poppins"/>
                <a:ea typeface="Poppins"/>
                <a:cs typeface="Poppins"/>
                <a:sym typeface="Poppins"/>
              </a:rPr>
              <a:t>Document Title	</a:t>
            </a:r>
            <a:endParaRPr lang="en-US" sz="1000" dirty="0">
              <a:solidFill>
                <a:srgbClr val="000000"/>
              </a:solidFill>
              <a:latin typeface="Poppins"/>
              <a:ea typeface="Poppins"/>
              <a:cs typeface="Poppins"/>
              <a:sym typeface="Poppins"/>
            </a:endParaRPr>
          </a:p>
        </p:txBody>
      </p:sp>
      <p:sp>
        <p:nvSpPr>
          <p:cNvPr id="18" name="TextBox 162">
            <a:extLst>
              <a:ext uri="{FF2B5EF4-FFF2-40B4-BE49-F238E27FC236}">
                <a16:creationId xmlns:a16="http://schemas.microsoft.com/office/drawing/2014/main" id="{2ABAD6B7-CB82-C50C-C6DA-22B2F938861D}"/>
              </a:ext>
            </a:extLst>
          </p:cNvPr>
          <p:cNvSpPr txBox="1"/>
          <p:nvPr/>
        </p:nvSpPr>
        <p:spPr>
          <a:xfrm>
            <a:off x="217200" y="2306543"/>
            <a:ext cx="1286199" cy="170560"/>
          </a:xfrm>
          <a:prstGeom prst="rect">
            <a:avLst/>
          </a:prstGeom>
        </p:spPr>
        <p:txBody>
          <a:bodyPr wrap="square" lIns="0" tIns="0" rIns="0" bIns="0" rtlCol="0" anchor="t">
            <a:spAutoFit/>
          </a:bodyPr>
          <a:lstStyle/>
          <a:p>
            <a:pPr algn="l">
              <a:lnSpc>
                <a:spcPts val="1400"/>
              </a:lnSpc>
              <a:spcBef>
                <a:spcPct val="0"/>
              </a:spcBef>
            </a:pPr>
            <a:r>
              <a:rPr lang="en-US" sz="1000" b="1" dirty="0">
                <a:solidFill>
                  <a:srgbClr val="000000"/>
                </a:solidFill>
                <a:latin typeface="Poppins"/>
                <a:ea typeface="Poppins"/>
                <a:cs typeface="Poppins"/>
                <a:sym typeface="Poppins"/>
              </a:rPr>
              <a:t>Prepare Basis	</a:t>
            </a:r>
            <a:endParaRPr lang="en-US" sz="1000" dirty="0">
              <a:solidFill>
                <a:srgbClr val="000000"/>
              </a:solidFill>
              <a:latin typeface="Poppins"/>
              <a:ea typeface="Poppins"/>
              <a:cs typeface="Poppins"/>
              <a:sym typeface="Poppins"/>
            </a:endParaRPr>
          </a:p>
        </p:txBody>
      </p:sp>
      <p:sp>
        <p:nvSpPr>
          <p:cNvPr id="20" name="TextBox 159">
            <a:extLst>
              <a:ext uri="{FF2B5EF4-FFF2-40B4-BE49-F238E27FC236}">
                <a16:creationId xmlns:a16="http://schemas.microsoft.com/office/drawing/2014/main" id="{4C9C0F84-EB76-A82C-7E2C-8E36DFABD75A}"/>
              </a:ext>
            </a:extLst>
          </p:cNvPr>
          <p:cNvSpPr txBox="1"/>
          <p:nvPr/>
        </p:nvSpPr>
        <p:spPr>
          <a:xfrm>
            <a:off x="495300" y="1555032"/>
            <a:ext cx="2034540" cy="184922"/>
          </a:xfrm>
          <a:prstGeom prst="rect">
            <a:avLst/>
          </a:prstGeom>
        </p:spPr>
        <p:txBody>
          <a:bodyPr wrap="square" lIns="0" tIns="0" rIns="0" bIns="0" rtlCol="0" anchor="t">
            <a:spAutoFit/>
          </a:bodyPr>
          <a:lstStyle/>
          <a:p>
            <a:pPr algn="l">
              <a:lnSpc>
                <a:spcPts val="1400"/>
              </a:lnSpc>
              <a:spcBef>
                <a:spcPct val="0"/>
              </a:spcBef>
            </a:pPr>
            <a:r>
              <a:rPr lang="en-US" sz="1400" b="1" dirty="0">
                <a:solidFill>
                  <a:srgbClr val="000000"/>
                </a:solidFill>
                <a:latin typeface="Poppins"/>
                <a:ea typeface="Poppins"/>
                <a:cs typeface="Poppins"/>
                <a:sym typeface="Poppins"/>
              </a:rPr>
              <a:t>Document Control</a:t>
            </a:r>
            <a:endParaRPr lang="en-US" sz="1400" dirty="0">
              <a:solidFill>
                <a:srgbClr val="000000"/>
              </a:solidFill>
              <a:latin typeface="Poppins"/>
              <a:ea typeface="Poppins"/>
              <a:cs typeface="Poppins"/>
              <a:sym typeface="Poppins"/>
            </a:endParaRPr>
          </a:p>
        </p:txBody>
      </p:sp>
      <p:sp>
        <p:nvSpPr>
          <p:cNvPr id="22" name="TextBox 159">
            <a:extLst>
              <a:ext uri="{FF2B5EF4-FFF2-40B4-BE49-F238E27FC236}">
                <a16:creationId xmlns:a16="http://schemas.microsoft.com/office/drawing/2014/main" id="{5CF2E596-5EA7-E24D-9BF3-50DB85011694}"/>
              </a:ext>
            </a:extLst>
          </p:cNvPr>
          <p:cNvSpPr txBox="1"/>
          <p:nvPr/>
        </p:nvSpPr>
        <p:spPr>
          <a:xfrm>
            <a:off x="495300" y="4600577"/>
            <a:ext cx="3474720" cy="184922"/>
          </a:xfrm>
          <a:prstGeom prst="rect">
            <a:avLst/>
          </a:prstGeom>
        </p:spPr>
        <p:txBody>
          <a:bodyPr wrap="square" lIns="0" tIns="0" rIns="0" bIns="0" rtlCol="0" anchor="t">
            <a:spAutoFit/>
          </a:bodyPr>
          <a:lstStyle/>
          <a:p>
            <a:pPr algn="l">
              <a:lnSpc>
                <a:spcPts val="1400"/>
              </a:lnSpc>
              <a:spcBef>
                <a:spcPct val="0"/>
              </a:spcBef>
            </a:pPr>
            <a:r>
              <a:rPr lang="en-US" sz="1400" b="1" dirty="0">
                <a:solidFill>
                  <a:srgbClr val="000000"/>
                </a:solidFill>
                <a:latin typeface="Poppins"/>
                <a:ea typeface="Poppins"/>
                <a:cs typeface="Poppins"/>
                <a:sym typeface="Poppins"/>
              </a:rPr>
              <a:t>1. Background</a:t>
            </a:r>
            <a:endParaRPr lang="en-US" sz="1400" dirty="0">
              <a:solidFill>
                <a:srgbClr val="000000"/>
              </a:solidFill>
              <a:latin typeface="Poppins"/>
              <a:ea typeface="Poppins"/>
              <a:cs typeface="Poppins"/>
              <a:sym typeface="Poppins"/>
            </a:endParaRPr>
          </a:p>
        </p:txBody>
      </p:sp>
      <p:sp>
        <p:nvSpPr>
          <p:cNvPr id="24" name="TextBox 162">
            <a:extLst>
              <a:ext uri="{FF2B5EF4-FFF2-40B4-BE49-F238E27FC236}">
                <a16:creationId xmlns:a16="http://schemas.microsoft.com/office/drawing/2014/main" id="{A42A8070-D1B7-B7C4-D026-E9F7D19A94EE}"/>
              </a:ext>
            </a:extLst>
          </p:cNvPr>
          <p:cNvSpPr txBox="1"/>
          <p:nvPr/>
        </p:nvSpPr>
        <p:spPr>
          <a:xfrm>
            <a:off x="607059" y="4879238"/>
            <a:ext cx="5957572" cy="709168"/>
          </a:xfrm>
          <a:prstGeom prst="rect">
            <a:avLst/>
          </a:prstGeom>
        </p:spPr>
        <p:txBody>
          <a:bodyPr wrap="square" lIns="0" tIns="0" rIns="0" bIns="0" rtlCol="0" anchor="t">
            <a:spAutoFit/>
          </a:bodyPr>
          <a:lstStyle/>
          <a:p>
            <a:pPr algn="l">
              <a:lnSpc>
                <a:spcPts val="1400"/>
              </a:lnSpc>
              <a:spcBef>
                <a:spcPct val="0"/>
              </a:spcBef>
            </a:pPr>
            <a:r>
              <a:rPr lang="en-US" sz="1000" dirty="0">
                <a:solidFill>
                  <a:srgbClr val="000000"/>
                </a:solidFill>
                <a:latin typeface="Poppins"/>
                <a:ea typeface="Poppins"/>
                <a:cs typeface="Poppins"/>
                <a:sym typeface="Poppins"/>
              </a:rPr>
              <a:t>The Date-wise Rejection Dashboard is designed to provide a centralized, web-based analytical view of all garment rejections within the wash unit. It consolidates daily QC inspection data to offer management visibility into rejection trends, shift performance, and dimensional breakdown of rejected units</a:t>
            </a:r>
          </a:p>
        </p:txBody>
      </p:sp>
      <p:sp>
        <p:nvSpPr>
          <p:cNvPr id="26" name="TextBox 159">
            <a:extLst>
              <a:ext uri="{FF2B5EF4-FFF2-40B4-BE49-F238E27FC236}">
                <a16:creationId xmlns:a16="http://schemas.microsoft.com/office/drawing/2014/main" id="{FFAE7595-E1AF-6A1B-F67E-4FF020B3BDC4}"/>
              </a:ext>
            </a:extLst>
          </p:cNvPr>
          <p:cNvSpPr txBox="1"/>
          <p:nvPr/>
        </p:nvSpPr>
        <p:spPr>
          <a:xfrm>
            <a:off x="423931" y="5688508"/>
            <a:ext cx="3474720" cy="184922"/>
          </a:xfrm>
          <a:prstGeom prst="rect">
            <a:avLst/>
          </a:prstGeom>
        </p:spPr>
        <p:txBody>
          <a:bodyPr wrap="square" lIns="0" tIns="0" rIns="0" bIns="0" rtlCol="0" anchor="t">
            <a:spAutoFit/>
          </a:bodyPr>
          <a:lstStyle/>
          <a:p>
            <a:pPr algn="l">
              <a:lnSpc>
                <a:spcPts val="1400"/>
              </a:lnSpc>
              <a:spcBef>
                <a:spcPct val="0"/>
              </a:spcBef>
            </a:pPr>
            <a:r>
              <a:rPr lang="en-US" sz="1400" b="1" dirty="0">
                <a:solidFill>
                  <a:srgbClr val="000000"/>
                </a:solidFill>
                <a:latin typeface="Poppins"/>
                <a:ea typeface="Poppins"/>
                <a:cs typeface="Poppins"/>
                <a:sym typeface="Poppins"/>
              </a:rPr>
              <a:t>2. Goal &amp; Objective</a:t>
            </a:r>
            <a:endParaRPr lang="en-US" sz="1400" dirty="0">
              <a:solidFill>
                <a:srgbClr val="000000"/>
              </a:solidFill>
              <a:latin typeface="Poppins"/>
              <a:ea typeface="Poppins"/>
              <a:cs typeface="Poppins"/>
              <a:sym typeface="Poppins"/>
            </a:endParaRPr>
          </a:p>
        </p:txBody>
      </p:sp>
      <p:sp>
        <p:nvSpPr>
          <p:cNvPr id="28" name="TextBox 162">
            <a:extLst>
              <a:ext uri="{FF2B5EF4-FFF2-40B4-BE49-F238E27FC236}">
                <a16:creationId xmlns:a16="http://schemas.microsoft.com/office/drawing/2014/main" id="{0E9CE250-23FD-7AED-1C58-05249AAE987F}"/>
              </a:ext>
            </a:extLst>
          </p:cNvPr>
          <p:cNvSpPr txBox="1"/>
          <p:nvPr/>
        </p:nvSpPr>
        <p:spPr>
          <a:xfrm>
            <a:off x="607060" y="5853805"/>
            <a:ext cx="6004530" cy="350096"/>
          </a:xfrm>
          <a:prstGeom prst="rect">
            <a:avLst/>
          </a:prstGeom>
        </p:spPr>
        <p:txBody>
          <a:bodyPr wrap="square" lIns="0" tIns="0" rIns="0" bIns="0" rtlCol="0" anchor="t">
            <a:spAutoFit/>
          </a:bodyPr>
          <a:lstStyle/>
          <a:p>
            <a:pPr>
              <a:lnSpc>
                <a:spcPts val="1400"/>
              </a:lnSpc>
              <a:spcBef>
                <a:spcPct val="0"/>
              </a:spcBef>
            </a:pPr>
            <a:r>
              <a:rPr lang="en-US" sz="1000" b="1" dirty="0">
                <a:latin typeface="Poppins" panose="00000500000000000000" pitchFamily="2" charset="0"/>
                <a:cs typeface="Poppins" panose="00000500000000000000" pitchFamily="2" charset="0"/>
              </a:rPr>
              <a:t>Goal:</a:t>
            </a:r>
            <a:r>
              <a:rPr lang="en-US" sz="1000" dirty="0">
                <a:latin typeface="Poppins" panose="00000500000000000000" pitchFamily="2" charset="0"/>
                <a:cs typeface="Poppins" panose="00000500000000000000" pitchFamily="2" charset="0"/>
              </a:rPr>
              <a:t> Develop an intuitive, real-time analytics dashboard within the ERP system to centralize garment rejection reporting and analysis for the garment processing unit.</a:t>
            </a:r>
            <a:endParaRPr lang="en-US" sz="700" dirty="0">
              <a:solidFill>
                <a:srgbClr val="000000"/>
              </a:solidFill>
              <a:latin typeface="Poppins" panose="00000500000000000000" pitchFamily="2" charset="0"/>
              <a:ea typeface="Poppins"/>
              <a:cs typeface="Poppins" panose="00000500000000000000" pitchFamily="2" charset="0"/>
              <a:sym typeface="Poppins"/>
            </a:endParaRPr>
          </a:p>
        </p:txBody>
      </p:sp>
      <p:pic>
        <p:nvPicPr>
          <p:cNvPr id="19" name="Graphic 18" descr="List with solid fill">
            <a:extLst>
              <a:ext uri="{FF2B5EF4-FFF2-40B4-BE49-F238E27FC236}">
                <a16:creationId xmlns:a16="http://schemas.microsoft.com/office/drawing/2014/main" id="{01F42289-064A-72E5-9B96-3BD4FC2779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483" y="1458438"/>
            <a:ext cx="293973" cy="293973"/>
          </a:xfrm>
          <a:prstGeom prst="rect">
            <a:avLst/>
          </a:prstGeom>
        </p:spPr>
      </p:pic>
      <p:pic>
        <p:nvPicPr>
          <p:cNvPr id="23" name="Graphic 22" descr="Target with solid fill">
            <a:extLst>
              <a:ext uri="{FF2B5EF4-FFF2-40B4-BE49-F238E27FC236}">
                <a16:creationId xmlns:a16="http://schemas.microsoft.com/office/drawing/2014/main" id="{57009460-4DE9-E9D6-8213-F00C6972CD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400" y="4530088"/>
            <a:ext cx="293973" cy="293973"/>
          </a:xfrm>
          <a:prstGeom prst="rect">
            <a:avLst/>
          </a:prstGeom>
        </p:spPr>
      </p:pic>
      <p:pic>
        <p:nvPicPr>
          <p:cNvPr id="30" name="Drawing 6">
            <a:extLst>
              <a:ext uri="{FF2B5EF4-FFF2-40B4-BE49-F238E27FC236}">
                <a16:creationId xmlns:a16="http://schemas.microsoft.com/office/drawing/2014/main" id="{C4BCA63E-B204-7347-EE28-7F248D6F9197}"/>
              </a:ext>
            </a:extLst>
          </p:cNvPr>
          <p:cNvPicPr>
            <a:picLocks noChangeAspect="1"/>
          </p:cNvPicPr>
          <p:nvPr/>
        </p:nvPicPr>
        <p:blipFill>
          <a:blip r:embed="rId5"/>
          <a:stretch>
            <a:fillRect/>
          </a:stretch>
        </p:blipFill>
        <p:spPr>
          <a:xfrm>
            <a:off x="168815" y="5654380"/>
            <a:ext cx="216257" cy="185363"/>
          </a:xfrm>
          <a:prstGeom prst="rect">
            <a:avLst/>
          </a:prstGeom>
        </p:spPr>
      </p:pic>
      <p:sp>
        <p:nvSpPr>
          <p:cNvPr id="31" name="Right Triangle 30">
            <a:extLst>
              <a:ext uri="{FF2B5EF4-FFF2-40B4-BE49-F238E27FC236}">
                <a16:creationId xmlns:a16="http://schemas.microsoft.com/office/drawing/2014/main" id="{630CC30C-6B9E-F93D-DBA5-E3521708D610}"/>
              </a:ext>
            </a:extLst>
          </p:cNvPr>
          <p:cNvSpPr/>
          <p:nvPr/>
        </p:nvSpPr>
        <p:spPr>
          <a:xfrm rot="5400000">
            <a:off x="4013001" y="-286343"/>
            <a:ext cx="1241993" cy="1814684"/>
          </a:xfrm>
          <a:prstGeom prst="rtTriangle">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2">
            <a:extLst>
              <a:ext uri="{FF2B5EF4-FFF2-40B4-BE49-F238E27FC236}">
                <a16:creationId xmlns:a16="http://schemas.microsoft.com/office/drawing/2014/main" id="{38FD2B18-E267-2F75-97EF-32D4457B84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01385" y="171348"/>
            <a:ext cx="727075" cy="817563"/>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162">
            <a:extLst>
              <a:ext uri="{FF2B5EF4-FFF2-40B4-BE49-F238E27FC236}">
                <a16:creationId xmlns:a16="http://schemas.microsoft.com/office/drawing/2014/main" id="{3D643B40-803F-1E9E-D81E-D798457A4DFA}"/>
              </a:ext>
            </a:extLst>
          </p:cNvPr>
          <p:cNvSpPr txBox="1"/>
          <p:nvPr/>
        </p:nvSpPr>
        <p:spPr>
          <a:xfrm>
            <a:off x="607059" y="6232477"/>
            <a:ext cx="6004530" cy="1384995"/>
          </a:xfrm>
          <a:prstGeom prst="rect">
            <a:avLst/>
          </a:prstGeom>
        </p:spPr>
        <p:txBody>
          <a:bodyPr wrap="square" lIns="0" tIns="0" rIns="0" bIns="0" rtlCol="0" anchor="t">
            <a:spAutoFit/>
          </a:bodyPr>
          <a:lstStyle/>
          <a:p>
            <a:r>
              <a:rPr lang="en-US" sz="1000" b="1" dirty="0">
                <a:latin typeface="Poppins" panose="00000500000000000000" pitchFamily="2" charset="0"/>
                <a:cs typeface="Poppins" panose="00000500000000000000" pitchFamily="2" charset="0"/>
              </a:rPr>
              <a:t>Objectives:</a:t>
            </a:r>
          </a:p>
          <a:p>
            <a:pPr marL="228600" indent="-228600">
              <a:buFont typeface="Tahoma" panose="020B0604030504040204" pitchFamily="34" charset="0"/>
              <a:buChar char="►"/>
            </a:pPr>
            <a:r>
              <a:rPr lang="en-US" sz="1000" dirty="0">
                <a:latin typeface="Poppins" panose="00000500000000000000" pitchFamily="2" charset="0"/>
                <a:cs typeface="Poppins" panose="00000500000000000000" pitchFamily="2" charset="0"/>
              </a:rPr>
              <a:t>Collect and consolidate daily inspection logs covering checked quantities and specific rejection details</a:t>
            </a:r>
          </a:p>
          <a:p>
            <a:pPr marL="228600" indent="-228600">
              <a:buFont typeface="Tahoma" panose="020B0604030504040204" pitchFamily="34" charset="0"/>
              <a:buChar char="►"/>
            </a:pPr>
            <a:r>
              <a:rPr lang="en-US" sz="1000" dirty="0">
                <a:latin typeface="Poppins" panose="00000500000000000000" pitchFamily="2" charset="0"/>
                <a:cs typeface="Poppins" panose="00000500000000000000" pitchFamily="2" charset="0"/>
              </a:rPr>
              <a:t>Ensure automated calculation of Reject % based on real-time check and reject scalars, reducing manual error</a:t>
            </a:r>
          </a:p>
          <a:p>
            <a:pPr marL="228600" indent="-228600">
              <a:buFont typeface="Tahoma" panose="020B0604030504040204" pitchFamily="34" charset="0"/>
              <a:buChar char="►"/>
            </a:pPr>
            <a:r>
              <a:rPr lang="en-US" sz="1000" dirty="0">
                <a:latin typeface="Poppins" panose="00000500000000000000" pitchFamily="2" charset="0"/>
                <a:cs typeface="Poppins" panose="00000500000000000000" pitchFamily="2" charset="0"/>
              </a:rPr>
              <a:t>Enable comparative analysis of quality outcomes across work shifts (Morning vs. Night) and individual QC personnel</a:t>
            </a:r>
          </a:p>
          <a:p>
            <a:pPr marL="228600" indent="-228600">
              <a:buFont typeface="Tahoma" panose="020B0604030504040204" pitchFamily="34" charset="0"/>
              <a:buChar char="►"/>
            </a:pPr>
            <a:r>
              <a:rPr lang="en-US" sz="1000" dirty="0">
                <a:latin typeface="Poppins" panose="00000500000000000000" pitchFamily="2" charset="0"/>
                <a:cs typeface="Poppins" panose="00000500000000000000" pitchFamily="2" charset="0"/>
              </a:rPr>
              <a:t>Provide granular reporting on the size distribution (XS, S, M, L, XL, XXL) of rejected garments to identify fit or dimensional trends</a:t>
            </a:r>
          </a:p>
        </p:txBody>
      </p:sp>
      <p:sp>
        <p:nvSpPr>
          <p:cNvPr id="25" name="TextBox 159">
            <a:extLst>
              <a:ext uri="{FF2B5EF4-FFF2-40B4-BE49-F238E27FC236}">
                <a16:creationId xmlns:a16="http://schemas.microsoft.com/office/drawing/2014/main" id="{E42EE1FE-9594-403E-4B30-6ACD21C7D4CF}"/>
              </a:ext>
            </a:extLst>
          </p:cNvPr>
          <p:cNvSpPr txBox="1"/>
          <p:nvPr/>
        </p:nvSpPr>
        <p:spPr>
          <a:xfrm>
            <a:off x="5176309" y="1836865"/>
            <a:ext cx="1394892" cy="173423"/>
          </a:xfrm>
          <a:prstGeom prst="rect">
            <a:avLst/>
          </a:prstGeom>
        </p:spPr>
        <p:txBody>
          <a:bodyPr wrap="square" lIns="0" tIns="0" rIns="0" bIns="0" rtlCol="0" anchor="t">
            <a:spAutoFit/>
          </a:bodyPr>
          <a:lstStyle/>
          <a:p>
            <a:pPr>
              <a:lnSpc>
                <a:spcPts val="1400"/>
              </a:lnSpc>
              <a:spcBef>
                <a:spcPct val="0"/>
              </a:spcBef>
            </a:pPr>
            <a:r>
              <a:rPr lang="en-US" sz="1000" b="1" dirty="0">
                <a:solidFill>
                  <a:srgbClr val="000000"/>
                </a:solidFill>
                <a:latin typeface="Poppins"/>
                <a:ea typeface="Poppins"/>
                <a:cs typeface="Poppins"/>
                <a:sym typeface="Poppins"/>
              </a:rPr>
              <a:t>Date: </a:t>
            </a:r>
            <a:r>
              <a:rPr lang="en-US" sz="1000" dirty="0">
                <a:solidFill>
                  <a:srgbClr val="000000"/>
                </a:solidFill>
                <a:latin typeface="Poppins"/>
                <a:ea typeface="Poppins"/>
                <a:cs typeface="Poppins"/>
                <a:sym typeface="Poppins"/>
              </a:rPr>
              <a:t>18-Aug-2026</a:t>
            </a:r>
          </a:p>
        </p:txBody>
      </p:sp>
      <p:sp>
        <p:nvSpPr>
          <p:cNvPr id="29" name="TextBox 159">
            <a:extLst>
              <a:ext uri="{FF2B5EF4-FFF2-40B4-BE49-F238E27FC236}">
                <a16:creationId xmlns:a16="http://schemas.microsoft.com/office/drawing/2014/main" id="{1349752A-1235-2C29-CF6C-46492356455E}"/>
              </a:ext>
            </a:extLst>
          </p:cNvPr>
          <p:cNvSpPr txBox="1"/>
          <p:nvPr/>
        </p:nvSpPr>
        <p:spPr>
          <a:xfrm>
            <a:off x="5176308" y="2049533"/>
            <a:ext cx="1388323" cy="170560"/>
          </a:xfrm>
          <a:prstGeom prst="rect">
            <a:avLst/>
          </a:prstGeom>
        </p:spPr>
        <p:txBody>
          <a:bodyPr wrap="square" lIns="0" tIns="0" rIns="0" bIns="0" rtlCol="0" anchor="t">
            <a:spAutoFit/>
          </a:bodyPr>
          <a:lstStyle/>
          <a:p>
            <a:pPr>
              <a:lnSpc>
                <a:spcPts val="1400"/>
              </a:lnSpc>
              <a:spcBef>
                <a:spcPct val="0"/>
              </a:spcBef>
            </a:pPr>
            <a:r>
              <a:rPr lang="en-US" sz="1000" b="1" dirty="0">
                <a:solidFill>
                  <a:srgbClr val="000000"/>
                </a:solidFill>
                <a:latin typeface="Poppins"/>
                <a:ea typeface="Poppins"/>
                <a:cs typeface="Poppins"/>
                <a:sym typeface="Poppins"/>
              </a:rPr>
              <a:t>Version: </a:t>
            </a:r>
            <a:r>
              <a:rPr lang="en-US" sz="1000" dirty="0">
                <a:solidFill>
                  <a:srgbClr val="000000"/>
                </a:solidFill>
                <a:latin typeface="Poppins"/>
                <a:ea typeface="Poppins"/>
                <a:cs typeface="Poppins"/>
                <a:sym typeface="Poppins"/>
              </a:rPr>
              <a:t>v1.0</a:t>
            </a:r>
          </a:p>
        </p:txBody>
      </p:sp>
      <p:sp>
        <p:nvSpPr>
          <p:cNvPr id="36" name="TextBox 141">
            <a:extLst>
              <a:ext uri="{FF2B5EF4-FFF2-40B4-BE49-F238E27FC236}">
                <a16:creationId xmlns:a16="http://schemas.microsoft.com/office/drawing/2014/main" id="{C78404CB-5A92-0F2D-3E3D-6B4E6C8F03AF}"/>
              </a:ext>
            </a:extLst>
          </p:cNvPr>
          <p:cNvSpPr txBox="1"/>
          <p:nvPr/>
        </p:nvSpPr>
        <p:spPr>
          <a:xfrm>
            <a:off x="1169670" y="3453083"/>
            <a:ext cx="6418800" cy="510977"/>
          </a:xfrm>
          <a:prstGeom prst="rect">
            <a:avLst/>
          </a:prstGeom>
        </p:spPr>
        <p:txBody>
          <a:bodyPr lIns="50800" tIns="50800" rIns="50800" bIns="50800" rtlCol="0" anchor="ctr"/>
          <a:lstStyle/>
          <a:p>
            <a:pPr algn="ctr">
              <a:lnSpc>
                <a:spcPts val="1959"/>
              </a:lnSpc>
            </a:pPr>
            <a:endParaRPr/>
          </a:p>
        </p:txBody>
      </p:sp>
      <p:sp>
        <p:nvSpPr>
          <p:cNvPr id="37" name="TextBox 162">
            <a:extLst>
              <a:ext uri="{FF2B5EF4-FFF2-40B4-BE49-F238E27FC236}">
                <a16:creationId xmlns:a16="http://schemas.microsoft.com/office/drawing/2014/main" id="{422D30F0-6BC5-1B1E-82B7-C0D0FE20560B}"/>
              </a:ext>
            </a:extLst>
          </p:cNvPr>
          <p:cNvSpPr txBox="1"/>
          <p:nvPr/>
        </p:nvSpPr>
        <p:spPr>
          <a:xfrm>
            <a:off x="199465" y="2583032"/>
            <a:ext cx="1410850" cy="170560"/>
          </a:xfrm>
          <a:prstGeom prst="rect">
            <a:avLst/>
          </a:prstGeom>
        </p:spPr>
        <p:txBody>
          <a:bodyPr wrap="square" lIns="0" tIns="0" rIns="0" bIns="0" rtlCol="0" anchor="t">
            <a:spAutoFit/>
          </a:bodyPr>
          <a:lstStyle/>
          <a:p>
            <a:pPr algn="l">
              <a:lnSpc>
                <a:spcPts val="1400"/>
              </a:lnSpc>
              <a:spcBef>
                <a:spcPct val="0"/>
              </a:spcBef>
            </a:pPr>
            <a:r>
              <a:rPr lang="en-US" sz="1000" b="1" dirty="0">
                <a:solidFill>
                  <a:srgbClr val="000000"/>
                </a:solidFill>
                <a:latin typeface="Poppins"/>
                <a:ea typeface="Poppins"/>
                <a:cs typeface="Poppins"/>
                <a:sym typeface="Poppins"/>
              </a:rPr>
              <a:t>Section Covered	</a:t>
            </a:r>
            <a:endParaRPr lang="en-US" sz="1000" dirty="0">
              <a:solidFill>
                <a:srgbClr val="000000"/>
              </a:solidFill>
              <a:latin typeface="Poppins"/>
              <a:ea typeface="Poppins"/>
              <a:cs typeface="Poppins"/>
              <a:sym typeface="Poppins"/>
            </a:endParaRPr>
          </a:p>
        </p:txBody>
      </p:sp>
      <p:grpSp>
        <p:nvGrpSpPr>
          <p:cNvPr id="38" name="Group 133">
            <a:extLst>
              <a:ext uri="{FF2B5EF4-FFF2-40B4-BE49-F238E27FC236}">
                <a16:creationId xmlns:a16="http://schemas.microsoft.com/office/drawing/2014/main" id="{5B6FDDF0-103D-551C-B271-5C148FC46A15}"/>
              </a:ext>
            </a:extLst>
          </p:cNvPr>
          <p:cNvGrpSpPr/>
          <p:nvPr/>
        </p:nvGrpSpPr>
        <p:grpSpPr>
          <a:xfrm>
            <a:off x="152400" y="2803887"/>
            <a:ext cx="6418800" cy="209881"/>
            <a:chOff x="0" y="0"/>
            <a:chExt cx="2300353" cy="75216"/>
          </a:xfrm>
        </p:grpSpPr>
        <p:sp>
          <p:nvSpPr>
            <p:cNvPr id="39" name="Freeform 134">
              <a:extLst>
                <a:ext uri="{FF2B5EF4-FFF2-40B4-BE49-F238E27FC236}">
                  <a16:creationId xmlns:a16="http://schemas.microsoft.com/office/drawing/2014/main" id="{02D7E31E-598F-2BBF-A933-523E181BC036}"/>
                </a:ext>
              </a:extLst>
            </p:cNvPr>
            <p:cNvSpPr/>
            <p:nvPr/>
          </p:nvSpPr>
          <p:spPr>
            <a:xfrm>
              <a:off x="0" y="0"/>
              <a:ext cx="2300353" cy="75216"/>
            </a:xfrm>
            <a:custGeom>
              <a:avLst/>
              <a:gdLst/>
              <a:ahLst/>
              <a:cxnLst/>
              <a:rect l="l" t="t" r="r" b="b"/>
              <a:pathLst>
                <a:path w="2300353" h="75216">
                  <a:moveTo>
                    <a:pt x="0" y="0"/>
                  </a:moveTo>
                  <a:lnTo>
                    <a:pt x="2300353" y="0"/>
                  </a:lnTo>
                  <a:lnTo>
                    <a:pt x="2300353" y="75216"/>
                  </a:lnTo>
                  <a:lnTo>
                    <a:pt x="0" y="75216"/>
                  </a:lnTo>
                  <a:close/>
                </a:path>
              </a:pathLst>
            </a:custGeom>
            <a:solidFill>
              <a:srgbClr val="EBEBE7">
                <a:alpha val="60000"/>
              </a:srgbClr>
            </a:solidFill>
          </p:spPr>
          <p:txBody>
            <a:bodyPr/>
            <a:lstStyle/>
            <a:p>
              <a:endParaRPr lang="en-US"/>
            </a:p>
          </p:txBody>
        </p:sp>
        <p:sp>
          <p:nvSpPr>
            <p:cNvPr id="40" name="TextBox 135">
              <a:extLst>
                <a:ext uri="{FF2B5EF4-FFF2-40B4-BE49-F238E27FC236}">
                  <a16:creationId xmlns:a16="http://schemas.microsoft.com/office/drawing/2014/main" id="{5DD3E62A-0829-DD84-F3B4-9F18969BA3F0}"/>
                </a:ext>
              </a:extLst>
            </p:cNvPr>
            <p:cNvSpPr txBox="1"/>
            <p:nvPr/>
          </p:nvSpPr>
          <p:spPr>
            <a:xfrm>
              <a:off x="0" y="-47625"/>
              <a:ext cx="2300353" cy="122841"/>
            </a:xfrm>
            <a:prstGeom prst="rect">
              <a:avLst/>
            </a:prstGeom>
          </p:spPr>
          <p:txBody>
            <a:bodyPr lIns="50800" tIns="50800" rIns="50800" bIns="50800" rtlCol="0" anchor="ctr"/>
            <a:lstStyle/>
            <a:p>
              <a:pPr algn="ctr">
                <a:lnSpc>
                  <a:spcPts val="1959"/>
                </a:lnSpc>
              </a:pPr>
              <a:endParaRPr/>
            </a:p>
          </p:txBody>
        </p:sp>
      </p:grpSp>
      <p:sp>
        <p:nvSpPr>
          <p:cNvPr id="41" name="TextBox 159">
            <a:extLst>
              <a:ext uri="{FF2B5EF4-FFF2-40B4-BE49-F238E27FC236}">
                <a16:creationId xmlns:a16="http://schemas.microsoft.com/office/drawing/2014/main" id="{1E27BE3B-1AB9-21A3-C14C-BB6CEAD3F0FE}"/>
              </a:ext>
            </a:extLst>
          </p:cNvPr>
          <p:cNvSpPr txBox="1"/>
          <p:nvPr/>
        </p:nvSpPr>
        <p:spPr>
          <a:xfrm>
            <a:off x="217201" y="2803277"/>
            <a:ext cx="1375380" cy="170560"/>
          </a:xfrm>
          <a:prstGeom prst="rect">
            <a:avLst/>
          </a:prstGeom>
        </p:spPr>
        <p:txBody>
          <a:bodyPr wrap="square" lIns="0" tIns="0" rIns="0" bIns="0" rtlCol="0" anchor="t">
            <a:spAutoFit/>
          </a:bodyPr>
          <a:lstStyle/>
          <a:p>
            <a:pPr algn="l">
              <a:lnSpc>
                <a:spcPts val="1400"/>
              </a:lnSpc>
              <a:spcBef>
                <a:spcPct val="0"/>
              </a:spcBef>
            </a:pPr>
            <a:r>
              <a:rPr lang="en-US" sz="1000" b="1" dirty="0">
                <a:solidFill>
                  <a:srgbClr val="000000"/>
                </a:solidFill>
                <a:latin typeface="Poppins"/>
                <a:ea typeface="Poppins"/>
                <a:cs typeface="Poppins"/>
                <a:sym typeface="Poppins"/>
              </a:rPr>
              <a:t>Primary User Role</a:t>
            </a:r>
            <a:endParaRPr lang="en-US" sz="1000" dirty="0">
              <a:solidFill>
                <a:srgbClr val="000000"/>
              </a:solidFill>
              <a:latin typeface="Poppins"/>
              <a:ea typeface="Poppins"/>
              <a:cs typeface="Poppins"/>
              <a:sym typeface="Poppins"/>
            </a:endParaRPr>
          </a:p>
        </p:txBody>
      </p:sp>
      <p:grpSp>
        <p:nvGrpSpPr>
          <p:cNvPr id="42" name="Group 133">
            <a:extLst>
              <a:ext uri="{FF2B5EF4-FFF2-40B4-BE49-F238E27FC236}">
                <a16:creationId xmlns:a16="http://schemas.microsoft.com/office/drawing/2014/main" id="{3673A5E1-4E4E-FE25-8035-BE9DE0CC7DC6}"/>
              </a:ext>
            </a:extLst>
          </p:cNvPr>
          <p:cNvGrpSpPr/>
          <p:nvPr/>
        </p:nvGrpSpPr>
        <p:grpSpPr>
          <a:xfrm>
            <a:off x="139483" y="3055414"/>
            <a:ext cx="6418800" cy="209881"/>
            <a:chOff x="0" y="0"/>
            <a:chExt cx="2300353" cy="75216"/>
          </a:xfrm>
        </p:grpSpPr>
        <p:sp>
          <p:nvSpPr>
            <p:cNvPr id="43" name="Freeform 134">
              <a:extLst>
                <a:ext uri="{FF2B5EF4-FFF2-40B4-BE49-F238E27FC236}">
                  <a16:creationId xmlns:a16="http://schemas.microsoft.com/office/drawing/2014/main" id="{92D412FD-2D3B-766D-A490-2C7BB83A5DD1}"/>
                </a:ext>
              </a:extLst>
            </p:cNvPr>
            <p:cNvSpPr/>
            <p:nvPr/>
          </p:nvSpPr>
          <p:spPr>
            <a:xfrm>
              <a:off x="0" y="0"/>
              <a:ext cx="2300353" cy="75216"/>
            </a:xfrm>
            <a:custGeom>
              <a:avLst/>
              <a:gdLst/>
              <a:ahLst/>
              <a:cxnLst/>
              <a:rect l="l" t="t" r="r" b="b"/>
              <a:pathLst>
                <a:path w="2300353" h="75216">
                  <a:moveTo>
                    <a:pt x="0" y="0"/>
                  </a:moveTo>
                  <a:lnTo>
                    <a:pt x="2300353" y="0"/>
                  </a:lnTo>
                  <a:lnTo>
                    <a:pt x="2300353" y="75216"/>
                  </a:lnTo>
                  <a:lnTo>
                    <a:pt x="0" y="75216"/>
                  </a:lnTo>
                  <a:close/>
                </a:path>
              </a:pathLst>
            </a:custGeom>
            <a:solidFill>
              <a:srgbClr val="EBEBE7">
                <a:alpha val="60000"/>
              </a:srgbClr>
            </a:solidFill>
          </p:spPr>
          <p:txBody>
            <a:bodyPr/>
            <a:lstStyle/>
            <a:p>
              <a:endParaRPr lang="en-US"/>
            </a:p>
          </p:txBody>
        </p:sp>
        <p:sp>
          <p:nvSpPr>
            <p:cNvPr id="44" name="TextBox 135">
              <a:extLst>
                <a:ext uri="{FF2B5EF4-FFF2-40B4-BE49-F238E27FC236}">
                  <a16:creationId xmlns:a16="http://schemas.microsoft.com/office/drawing/2014/main" id="{74BDD5FF-D7D9-89F1-F5F5-F0C7AA1B0C0D}"/>
                </a:ext>
              </a:extLst>
            </p:cNvPr>
            <p:cNvSpPr txBox="1"/>
            <p:nvPr/>
          </p:nvSpPr>
          <p:spPr>
            <a:xfrm>
              <a:off x="0" y="-47625"/>
              <a:ext cx="2300353" cy="122841"/>
            </a:xfrm>
            <a:prstGeom prst="rect">
              <a:avLst/>
            </a:prstGeom>
          </p:spPr>
          <p:txBody>
            <a:bodyPr lIns="50800" tIns="50800" rIns="50800" bIns="50800" rtlCol="0" anchor="ctr"/>
            <a:lstStyle/>
            <a:p>
              <a:pPr algn="ctr">
                <a:lnSpc>
                  <a:spcPts val="1959"/>
                </a:lnSpc>
              </a:pPr>
              <a:endParaRPr/>
            </a:p>
          </p:txBody>
        </p:sp>
      </p:grpSp>
      <p:sp>
        <p:nvSpPr>
          <p:cNvPr id="45" name="TextBox 159">
            <a:extLst>
              <a:ext uri="{FF2B5EF4-FFF2-40B4-BE49-F238E27FC236}">
                <a16:creationId xmlns:a16="http://schemas.microsoft.com/office/drawing/2014/main" id="{C048A661-BEEA-5C5D-DF6C-9DF18CDD968A}"/>
              </a:ext>
            </a:extLst>
          </p:cNvPr>
          <p:cNvSpPr txBox="1"/>
          <p:nvPr/>
        </p:nvSpPr>
        <p:spPr>
          <a:xfrm>
            <a:off x="217200" y="3064328"/>
            <a:ext cx="1375381" cy="170560"/>
          </a:xfrm>
          <a:prstGeom prst="rect">
            <a:avLst/>
          </a:prstGeom>
        </p:spPr>
        <p:txBody>
          <a:bodyPr wrap="square" lIns="0" tIns="0" rIns="0" bIns="0" rtlCol="0" anchor="t">
            <a:spAutoFit/>
          </a:bodyPr>
          <a:lstStyle/>
          <a:p>
            <a:pPr algn="l">
              <a:lnSpc>
                <a:spcPts val="1400"/>
              </a:lnSpc>
              <a:spcBef>
                <a:spcPct val="0"/>
              </a:spcBef>
            </a:pPr>
            <a:r>
              <a:rPr lang="en-US" sz="1000" b="1" dirty="0">
                <a:solidFill>
                  <a:srgbClr val="000000"/>
                </a:solidFill>
                <a:latin typeface="Poppins"/>
                <a:ea typeface="Poppins"/>
                <a:cs typeface="Poppins"/>
                <a:sym typeface="Poppins"/>
              </a:rPr>
              <a:t>Status</a:t>
            </a:r>
            <a:endParaRPr lang="en-US" sz="1000" dirty="0">
              <a:solidFill>
                <a:srgbClr val="000000"/>
              </a:solidFill>
              <a:latin typeface="Poppins"/>
              <a:ea typeface="Poppins"/>
              <a:cs typeface="Poppins"/>
              <a:sym typeface="Poppins"/>
            </a:endParaRPr>
          </a:p>
        </p:txBody>
      </p:sp>
      <p:sp>
        <p:nvSpPr>
          <p:cNvPr id="2" name="TextBox 1">
            <a:extLst>
              <a:ext uri="{FF2B5EF4-FFF2-40B4-BE49-F238E27FC236}">
                <a16:creationId xmlns:a16="http://schemas.microsoft.com/office/drawing/2014/main" id="{F288B43F-BA56-E01A-85BF-33F51690E9FC}"/>
              </a:ext>
            </a:extLst>
          </p:cNvPr>
          <p:cNvSpPr txBox="1"/>
          <p:nvPr/>
        </p:nvSpPr>
        <p:spPr>
          <a:xfrm>
            <a:off x="1503401" y="2003626"/>
            <a:ext cx="3754399" cy="276999"/>
          </a:xfrm>
          <a:prstGeom prst="rect">
            <a:avLst/>
          </a:prstGeom>
          <a:noFill/>
        </p:spPr>
        <p:txBody>
          <a:bodyPr wrap="square" rtlCol="0">
            <a:spAutoFit/>
          </a:bodyPr>
          <a:lstStyle/>
          <a:p>
            <a:r>
              <a:rPr lang="en-US" sz="1200" dirty="0">
                <a:latin typeface="Poppins" panose="00000500000000000000" pitchFamily="2" charset="0"/>
                <a:ea typeface="Cambria" panose="02040503050406030204" pitchFamily="18" charset="0"/>
                <a:cs typeface="Poppins" panose="00000500000000000000" pitchFamily="2" charset="0"/>
              </a:rPr>
              <a:t>: Date-wise Rejection Dashboard</a:t>
            </a:r>
          </a:p>
        </p:txBody>
      </p:sp>
      <p:sp>
        <p:nvSpPr>
          <p:cNvPr id="46" name="TextBox 45">
            <a:extLst>
              <a:ext uri="{FF2B5EF4-FFF2-40B4-BE49-F238E27FC236}">
                <a16:creationId xmlns:a16="http://schemas.microsoft.com/office/drawing/2014/main" id="{E7FA6BFA-C320-E07A-4BF4-68CA6CBDBCD8}"/>
              </a:ext>
            </a:extLst>
          </p:cNvPr>
          <p:cNvSpPr txBox="1"/>
          <p:nvPr/>
        </p:nvSpPr>
        <p:spPr>
          <a:xfrm>
            <a:off x="1503400" y="1773017"/>
            <a:ext cx="2733675" cy="276999"/>
          </a:xfrm>
          <a:prstGeom prst="rect">
            <a:avLst/>
          </a:prstGeom>
          <a:noFill/>
        </p:spPr>
        <p:txBody>
          <a:bodyPr wrap="square" rtlCol="0">
            <a:spAutoFit/>
          </a:bodyPr>
          <a:lstStyle/>
          <a:p>
            <a:r>
              <a:rPr lang="en-US" sz="1200" dirty="0">
                <a:solidFill>
                  <a:srgbClr val="000000"/>
                </a:solidFill>
                <a:latin typeface="Poppins"/>
                <a:ea typeface="Poppins"/>
                <a:cs typeface="Poppins"/>
                <a:sym typeface="Poppins"/>
              </a:rPr>
              <a:t>: Washing Module</a:t>
            </a:r>
            <a:endParaRPr lang="en-US" sz="1200" dirty="0"/>
          </a:p>
        </p:txBody>
      </p:sp>
      <p:sp>
        <p:nvSpPr>
          <p:cNvPr id="48" name="TextBox 47">
            <a:extLst>
              <a:ext uri="{FF2B5EF4-FFF2-40B4-BE49-F238E27FC236}">
                <a16:creationId xmlns:a16="http://schemas.microsoft.com/office/drawing/2014/main" id="{A75B4E92-64AD-4E39-5949-25C53801712D}"/>
              </a:ext>
            </a:extLst>
          </p:cNvPr>
          <p:cNvSpPr txBox="1"/>
          <p:nvPr/>
        </p:nvSpPr>
        <p:spPr>
          <a:xfrm>
            <a:off x="1490483" y="2782426"/>
            <a:ext cx="2733675" cy="276999"/>
          </a:xfrm>
          <a:prstGeom prst="rect">
            <a:avLst/>
          </a:prstGeom>
          <a:noFill/>
        </p:spPr>
        <p:txBody>
          <a:bodyPr wrap="square" rtlCol="0">
            <a:spAutoFit/>
          </a:bodyPr>
          <a:lstStyle/>
          <a:p>
            <a:r>
              <a:rPr lang="en-US" sz="1200" dirty="0">
                <a:solidFill>
                  <a:srgbClr val="000000"/>
                </a:solidFill>
                <a:latin typeface="Poppins"/>
                <a:ea typeface="Poppins"/>
                <a:cs typeface="Poppins"/>
                <a:sym typeface="Poppins"/>
              </a:rPr>
              <a:t>: Wash Production Team</a:t>
            </a:r>
            <a:endParaRPr lang="en-US" sz="1200" dirty="0"/>
          </a:p>
        </p:txBody>
      </p:sp>
      <p:sp>
        <p:nvSpPr>
          <p:cNvPr id="50" name="TextBox 49">
            <a:extLst>
              <a:ext uri="{FF2B5EF4-FFF2-40B4-BE49-F238E27FC236}">
                <a16:creationId xmlns:a16="http://schemas.microsoft.com/office/drawing/2014/main" id="{8E88D140-931B-FCA8-8416-5574A8B7C785}"/>
              </a:ext>
            </a:extLst>
          </p:cNvPr>
          <p:cNvSpPr txBox="1"/>
          <p:nvPr/>
        </p:nvSpPr>
        <p:spPr>
          <a:xfrm>
            <a:off x="1503399" y="3032818"/>
            <a:ext cx="4706901" cy="276999"/>
          </a:xfrm>
          <a:prstGeom prst="rect">
            <a:avLst/>
          </a:prstGeom>
          <a:noFill/>
        </p:spPr>
        <p:txBody>
          <a:bodyPr wrap="square" rtlCol="0">
            <a:spAutoFit/>
          </a:bodyPr>
          <a:lstStyle/>
          <a:p>
            <a:r>
              <a:rPr lang="en-US" sz="1200" dirty="0">
                <a:solidFill>
                  <a:srgbClr val="000000"/>
                </a:solidFill>
                <a:latin typeface="Poppins"/>
                <a:ea typeface="Poppins"/>
                <a:cs typeface="Poppins"/>
                <a:sym typeface="Poppins"/>
              </a:rPr>
              <a:t>: Approved baseline for development</a:t>
            </a:r>
            <a:endParaRPr lang="en-US" sz="1200" dirty="0"/>
          </a:p>
        </p:txBody>
      </p:sp>
      <p:sp>
        <p:nvSpPr>
          <p:cNvPr id="52" name="TextBox 51">
            <a:extLst>
              <a:ext uri="{FF2B5EF4-FFF2-40B4-BE49-F238E27FC236}">
                <a16:creationId xmlns:a16="http://schemas.microsoft.com/office/drawing/2014/main" id="{F030CCEA-4ECF-9D8F-5388-E6897137C151}"/>
              </a:ext>
            </a:extLst>
          </p:cNvPr>
          <p:cNvSpPr txBox="1"/>
          <p:nvPr/>
        </p:nvSpPr>
        <p:spPr>
          <a:xfrm>
            <a:off x="1497087" y="2259072"/>
            <a:ext cx="5083638" cy="276999"/>
          </a:xfrm>
          <a:prstGeom prst="rect">
            <a:avLst/>
          </a:prstGeom>
          <a:noFill/>
        </p:spPr>
        <p:txBody>
          <a:bodyPr wrap="square" rtlCol="0">
            <a:spAutoFit/>
          </a:bodyPr>
          <a:lstStyle/>
          <a:p>
            <a:r>
              <a:rPr lang="en-US" sz="1200" dirty="0">
                <a:solidFill>
                  <a:srgbClr val="000000"/>
                </a:solidFill>
                <a:latin typeface="Poppins"/>
                <a:ea typeface="Poppins"/>
                <a:cs typeface="Poppins"/>
                <a:sym typeface="Poppins"/>
              </a:rPr>
              <a:t>: Requirements gather from wash production department</a:t>
            </a:r>
            <a:endParaRPr lang="en-US" sz="1200" dirty="0"/>
          </a:p>
        </p:txBody>
      </p:sp>
      <p:sp>
        <p:nvSpPr>
          <p:cNvPr id="54" name="TextBox 53">
            <a:extLst>
              <a:ext uri="{FF2B5EF4-FFF2-40B4-BE49-F238E27FC236}">
                <a16:creationId xmlns:a16="http://schemas.microsoft.com/office/drawing/2014/main" id="{76A13BEC-1D05-21C2-9C4D-FE445A90A32D}"/>
              </a:ext>
            </a:extLst>
          </p:cNvPr>
          <p:cNvSpPr txBox="1"/>
          <p:nvPr/>
        </p:nvSpPr>
        <p:spPr>
          <a:xfrm>
            <a:off x="1499331" y="2535837"/>
            <a:ext cx="2733675" cy="276999"/>
          </a:xfrm>
          <a:prstGeom prst="rect">
            <a:avLst/>
          </a:prstGeom>
          <a:noFill/>
        </p:spPr>
        <p:txBody>
          <a:bodyPr wrap="square" rtlCol="0">
            <a:spAutoFit/>
          </a:bodyPr>
          <a:lstStyle/>
          <a:p>
            <a:r>
              <a:rPr lang="en-US" sz="1200" dirty="0">
                <a:solidFill>
                  <a:srgbClr val="000000"/>
                </a:solidFill>
                <a:latin typeface="Poppins"/>
                <a:ea typeface="Poppins"/>
                <a:cs typeface="Poppins"/>
                <a:sym typeface="Poppins"/>
              </a:rPr>
              <a:t>: Filter Section; Report Matrix Grid</a:t>
            </a:r>
            <a:endParaRPr lang="en-US" sz="1200" dirty="0"/>
          </a:p>
        </p:txBody>
      </p:sp>
      <p:sp>
        <p:nvSpPr>
          <p:cNvPr id="56" name="TextBox 159">
            <a:extLst>
              <a:ext uri="{FF2B5EF4-FFF2-40B4-BE49-F238E27FC236}">
                <a16:creationId xmlns:a16="http://schemas.microsoft.com/office/drawing/2014/main" id="{E20C2C33-BA4F-8D15-ADB1-C4A69F9F166A}"/>
              </a:ext>
            </a:extLst>
          </p:cNvPr>
          <p:cNvSpPr txBox="1"/>
          <p:nvPr/>
        </p:nvSpPr>
        <p:spPr>
          <a:xfrm>
            <a:off x="423931" y="7611787"/>
            <a:ext cx="3474720" cy="184922"/>
          </a:xfrm>
          <a:prstGeom prst="rect">
            <a:avLst/>
          </a:prstGeom>
        </p:spPr>
        <p:txBody>
          <a:bodyPr wrap="square" lIns="0" tIns="0" rIns="0" bIns="0" rtlCol="0" anchor="t">
            <a:spAutoFit/>
          </a:bodyPr>
          <a:lstStyle/>
          <a:p>
            <a:pPr algn="l">
              <a:lnSpc>
                <a:spcPts val="1400"/>
              </a:lnSpc>
              <a:spcBef>
                <a:spcPct val="0"/>
              </a:spcBef>
            </a:pPr>
            <a:r>
              <a:rPr lang="en-US" sz="1400" b="1" dirty="0">
                <a:solidFill>
                  <a:srgbClr val="000000"/>
                </a:solidFill>
                <a:latin typeface="Poppins"/>
                <a:ea typeface="Poppins"/>
                <a:cs typeface="Poppins"/>
                <a:sym typeface="Poppins"/>
              </a:rPr>
              <a:t>3. Scope</a:t>
            </a:r>
            <a:endParaRPr lang="en-US" sz="1400" dirty="0">
              <a:solidFill>
                <a:srgbClr val="000000"/>
              </a:solidFill>
              <a:latin typeface="Poppins"/>
              <a:ea typeface="Poppins"/>
              <a:cs typeface="Poppins"/>
              <a:sym typeface="Poppins"/>
            </a:endParaRPr>
          </a:p>
        </p:txBody>
      </p:sp>
      <p:sp>
        <p:nvSpPr>
          <p:cNvPr id="58" name="TextBox 162">
            <a:extLst>
              <a:ext uri="{FF2B5EF4-FFF2-40B4-BE49-F238E27FC236}">
                <a16:creationId xmlns:a16="http://schemas.microsoft.com/office/drawing/2014/main" id="{413361D0-604D-799E-B20E-393B81665E91}"/>
              </a:ext>
            </a:extLst>
          </p:cNvPr>
          <p:cNvSpPr txBox="1"/>
          <p:nvPr/>
        </p:nvSpPr>
        <p:spPr>
          <a:xfrm>
            <a:off x="586014" y="7823530"/>
            <a:ext cx="6004530" cy="1384995"/>
          </a:xfrm>
          <a:prstGeom prst="rect">
            <a:avLst/>
          </a:prstGeom>
        </p:spPr>
        <p:txBody>
          <a:bodyPr wrap="square" lIns="0" tIns="0" rIns="0" bIns="0" rtlCol="0" anchor="t">
            <a:spAutoFit/>
          </a:bodyPr>
          <a:lstStyle/>
          <a:p>
            <a:r>
              <a:rPr lang="en-US" sz="1000" b="1" dirty="0">
                <a:latin typeface="Poppins" panose="00000500000000000000" pitchFamily="2" charset="0"/>
                <a:cs typeface="Poppins" panose="00000500000000000000" pitchFamily="2" charset="0"/>
              </a:rPr>
              <a:t>In-Scope:</a:t>
            </a:r>
          </a:p>
          <a:p>
            <a:pPr marL="228600" indent="-228600">
              <a:buFont typeface="Tahoma" panose="020B0604030504040204" pitchFamily="34" charset="0"/>
              <a:buChar char="►"/>
            </a:pPr>
            <a:r>
              <a:rPr lang="en-US" sz="1000" dirty="0">
                <a:latin typeface="Poppins" panose="00000500000000000000" pitchFamily="2" charset="0"/>
                <a:cs typeface="Poppins" panose="00000500000000000000" pitchFamily="2" charset="0"/>
              </a:rPr>
              <a:t>Dynamic data filtering by Unit, Date Range, and Global Search string.  </a:t>
            </a:r>
          </a:p>
          <a:p>
            <a:pPr marL="228600" indent="-228600">
              <a:buFont typeface="Tahoma" panose="020B0604030504040204" pitchFamily="34" charset="0"/>
              <a:buChar char="►"/>
            </a:pPr>
            <a:r>
              <a:rPr lang="en-US" sz="1000" dirty="0">
                <a:latin typeface="Poppins" panose="00000500000000000000" pitchFamily="2" charset="0"/>
                <a:cs typeface="Poppins" panose="00000500000000000000" pitchFamily="2" charset="0"/>
              </a:rPr>
              <a:t>Rending of a comprehensive data grid categorized by Receive Operations, Batching, QC Inspector Info, Calculative QC, and Size Breakdown sections</a:t>
            </a:r>
          </a:p>
          <a:p>
            <a:pPr marL="228600" indent="-228600">
              <a:buFont typeface="Tahoma" panose="020B0604030504040204" pitchFamily="34" charset="0"/>
              <a:buChar char="►"/>
            </a:pPr>
            <a:r>
              <a:rPr lang="en-US" sz="1000" dirty="0">
                <a:latin typeface="Poppins" panose="00000500000000000000" pitchFamily="2" charset="0"/>
                <a:cs typeface="Poppins" panose="00000500000000000000" pitchFamily="2" charset="0"/>
              </a:rPr>
              <a:t>Capturing size-wise scalar rejection counts (XS, S, M, L, XL, XXL).</a:t>
            </a:r>
          </a:p>
          <a:p>
            <a:pPr marL="228600" indent="-228600">
              <a:buFont typeface="Tahoma" panose="020B0604030504040204" pitchFamily="34" charset="0"/>
              <a:buChar char="►"/>
            </a:pPr>
            <a:r>
              <a:rPr lang="en-US" sz="1000" dirty="0">
                <a:latin typeface="Poppins" panose="00000500000000000000" pitchFamily="2" charset="0"/>
                <a:cs typeface="Poppins" panose="00000500000000000000" pitchFamily="2" charset="0"/>
              </a:rPr>
              <a:t>Exporting grid data into editable Excel (.xlsx) and PDF formats. </a:t>
            </a:r>
          </a:p>
          <a:p>
            <a:r>
              <a:rPr lang="en-US" sz="1000" b="1" dirty="0">
                <a:latin typeface="Poppins" panose="00000500000000000000" pitchFamily="2" charset="0"/>
                <a:cs typeface="Poppins" panose="00000500000000000000" pitchFamily="2" charset="0"/>
              </a:rPr>
              <a:t>Out of-Scope:</a:t>
            </a:r>
          </a:p>
          <a:p>
            <a:pPr marL="228600" indent="-228600">
              <a:buFont typeface="Tahoma" panose="020B0604030504040204" pitchFamily="34" charset="0"/>
              <a:buChar char="►"/>
            </a:pPr>
            <a:r>
              <a:rPr lang="en-US" sz="1000" dirty="0">
                <a:latin typeface="Poppins" panose="00000500000000000000" pitchFamily="2" charset="0"/>
                <a:cs typeface="Poppins" panose="00000500000000000000" pitchFamily="2" charset="0"/>
              </a:rPr>
              <a:t>Direct entry or modification of individual batch defect logs (handled in the Hourly QC Pass &amp; DHU Report module). </a:t>
            </a:r>
          </a:p>
        </p:txBody>
      </p:sp>
      <p:graphicFrame>
        <p:nvGraphicFramePr>
          <p:cNvPr id="59" name="Table 58">
            <a:extLst>
              <a:ext uri="{FF2B5EF4-FFF2-40B4-BE49-F238E27FC236}">
                <a16:creationId xmlns:a16="http://schemas.microsoft.com/office/drawing/2014/main" id="{B0A16796-11B5-19D3-9791-2B77ADD6D8FB}"/>
              </a:ext>
            </a:extLst>
          </p:cNvPr>
          <p:cNvGraphicFramePr>
            <a:graphicFrameLocks noGrp="1"/>
          </p:cNvGraphicFramePr>
          <p:nvPr>
            <p:extLst>
              <p:ext uri="{D42A27DB-BD31-4B8C-83A1-F6EECF244321}">
                <p14:modId xmlns:p14="http://schemas.microsoft.com/office/powerpoint/2010/main" val="2169649954"/>
              </p:ext>
            </p:extLst>
          </p:nvPr>
        </p:nvGraphicFramePr>
        <p:xfrm>
          <a:off x="160049" y="3900770"/>
          <a:ext cx="6405881" cy="508852"/>
        </p:xfrm>
        <a:graphic>
          <a:graphicData uri="http://schemas.openxmlformats.org/drawingml/2006/table">
            <a:tbl>
              <a:tblPr firstRow="1">
                <a:tableStyleId>{8799B23B-EC83-4686-B30A-512413B5E67A}</a:tableStyleId>
              </a:tblPr>
              <a:tblGrid>
                <a:gridCol w="465932">
                  <a:extLst>
                    <a:ext uri="{9D8B030D-6E8A-4147-A177-3AD203B41FA5}">
                      <a16:colId xmlns:a16="http://schemas.microsoft.com/office/drawing/2014/main" val="2231877261"/>
                    </a:ext>
                  </a:extLst>
                </a:gridCol>
                <a:gridCol w="981869">
                  <a:extLst>
                    <a:ext uri="{9D8B030D-6E8A-4147-A177-3AD203B41FA5}">
                      <a16:colId xmlns:a16="http://schemas.microsoft.com/office/drawing/2014/main" val="3964042735"/>
                    </a:ext>
                  </a:extLst>
                </a:gridCol>
                <a:gridCol w="3583717">
                  <a:extLst>
                    <a:ext uri="{9D8B030D-6E8A-4147-A177-3AD203B41FA5}">
                      <a16:colId xmlns:a16="http://schemas.microsoft.com/office/drawing/2014/main" val="2864033036"/>
                    </a:ext>
                  </a:extLst>
                </a:gridCol>
                <a:gridCol w="1374363">
                  <a:extLst>
                    <a:ext uri="{9D8B030D-6E8A-4147-A177-3AD203B41FA5}">
                      <a16:colId xmlns:a16="http://schemas.microsoft.com/office/drawing/2014/main" val="2006718910"/>
                    </a:ext>
                  </a:extLst>
                </a:gridCol>
              </a:tblGrid>
              <a:tr h="208448">
                <a:tc>
                  <a:txBody>
                    <a:bodyPr/>
                    <a:lstStyle/>
                    <a:p>
                      <a:pPr algn="ctr"/>
                      <a:r>
                        <a:rPr lang="en-US" sz="1050" dirty="0">
                          <a:solidFill>
                            <a:schemeClr val="tx1"/>
                          </a:solidFill>
                        </a:rPr>
                        <a:t>Ver.</a:t>
                      </a:r>
                      <a:endParaRPr lang="en-US" sz="1050" dirty="0">
                        <a:solidFill>
                          <a:schemeClr val="tx1"/>
                        </a:solidFill>
                        <a:latin typeface="Poppins" panose="00000500000000000000" pitchFamily="2" charset="0"/>
                        <a:cs typeface="Poppins" panose="00000500000000000000" pitchFamily="2" charset="0"/>
                      </a:endParaRPr>
                    </a:p>
                  </a:txBody>
                  <a:tcPr anchor="ctr"/>
                </a:tc>
                <a:tc>
                  <a:txBody>
                    <a:bodyPr/>
                    <a:lstStyle/>
                    <a:p>
                      <a:pPr algn="ctr"/>
                      <a:r>
                        <a:rPr lang="en-US" sz="1050" dirty="0">
                          <a:solidFill>
                            <a:schemeClr val="tx1"/>
                          </a:solidFill>
                        </a:rPr>
                        <a:t>Date</a:t>
                      </a:r>
                      <a:endParaRPr lang="en-US" sz="1050" dirty="0">
                        <a:solidFill>
                          <a:schemeClr val="tx1"/>
                        </a:solidFill>
                        <a:latin typeface="Poppins" panose="00000500000000000000" pitchFamily="2" charset="0"/>
                        <a:cs typeface="Poppins" panose="00000500000000000000" pitchFamily="2" charset="0"/>
                      </a:endParaRPr>
                    </a:p>
                  </a:txBody>
                  <a:tcPr anchor="ctr"/>
                </a:tc>
                <a:tc>
                  <a:txBody>
                    <a:bodyPr/>
                    <a:lstStyle/>
                    <a:p>
                      <a:pPr algn="ctr"/>
                      <a:r>
                        <a:rPr lang="en-US" sz="1050" dirty="0">
                          <a:solidFill>
                            <a:schemeClr val="tx1"/>
                          </a:solidFill>
                        </a:rPr>
                        <a:t>Description</a:t>
                      </a:r>
                      <a:endParaRPr lang="en-US" sz="1050" dirty="0">
                        <a:solidFill>
                          <a:schemeClr val="tx1"/>
                        </a:solidFill>
                        <a:latin typeface="Poppins" panose="00000500000000000000" pitchFamily="2" charset="0"/>
                        <a:cs typeface="Poppins" panose="00000500000000000000" pitchFamily="2" charset="0"/>
                      </a:endParaRPr>
                    </a:p>
                  </a:txBody>
                  <a:tcPr anchor="ctr"/>
                </a:tc>
                <a:tc>
                  <a:txBody>
                    <a:bodyPr/>
                    <a:lstStyle/>
                    <a:p>
                      <a:pPr algn="ctr"/>
                      <a:r>
                        <a:rPr lang="en-US" sz="1050" dirty="0">
                          <a:solidFill>
                            <a:schemeClr val="tx1"/>
                          </a:solidFill>
                        </a:rPr>
                        <a:t>Author</a:t>
                      </a:r>
                      <a:endParaRPr lang="en-US" sz="1050" dirty="0">
                        <a:solidFill>
                          <a:schemeClr val="tx1"/>
                        </a:solidFill>
                        <a:latin typeface="Poppins" panose="00000500000000000000" pitchFamily="2" charset="0"/>
                        <a:cs typeface="Poppins" panose="00000500000000000000" pitchFamily="2" charset="0"/>
                      </a:endParaRPr>
                    </a:p>
                  </a:txBody>
                  <a:tcPr anchor="ctr"/>
                </a:tc>
                <a:extLst>
                  <a:ext uri="{0D108BD9-81ED-4DB2-BD59-A6C34878D82A}">
                    <a16:rowId xmlns:a16="http://schemas.microsoft.com/office/drawing/2014/main" val="3958262478"/>
                  </a:ext>
                </a:extLst>
              </a:tr>
              <a:tr h="257392">
                <a:tc>
                  <a:txBody>
                    <a:bodyPr/>
                    <a:lstStyle/>
                    <a:p>
                      <a:pPr algn="ctr"/>
                      <a:r>
                        <a:rPr lang="en-US" sz="800" dirty="0">
                          <a:latin typeface="Poppins" panose="00000500000000000000" pitchFamily="2" charset="0"/>
                          <a:cs typeface="Poppins" panose="00000500000000000000" pitchFamily="2" charset="0"/>
                        </a:rPr>
                        <a:t>-</a:t>
                      </a:r>
                    </a:p>
                  </a:txBody>
                  <a:tcPr anchor="ctr"/>
                </a:tc>
                <a:tc>
                  <a:txBody>
                    <a:bodyPr/>
                    <a:lstStyle/>
                    <a:p>
                      <a:pPr algn="ctr"/>
                      <a:r>
                        <a:rPr lang="en-US" sz="800" dirty="0">
                          <a:latin typeface="Poppins" panose="00000500000000000000" pitchFamily="2" charset="0"/>
                          <a:cs typeface="Poppins" panose="00000500000000000000" pitchFamily="2" charset="0"/>
                        </a:rPr>
                        <a:t>-</a:t>
                      </a:r>
                    </a:p>
                  </a:txBody>
                  <a:tcPr anchor="ctr"/>
                </a:tc>
                <a:tc>
                  <a:txBody>
                    <a:bodyPr/>
                    <a:lstStyle/>
                    <a:p>
                      <a:pPr algn="ctr"/>
                      <a:r>
                        <a:rPr lang="en-US" sz="800" dirty="0">
                          <a:latin typeface="Poppins" panose="00000500000000000000" pitchFamily="2" charset="0"/>
                          <a:cs typeface="Poppins" panose="00000500000000000000" pitchFamily="2" charset="0"/>
                        </a:rPr>
                        <a:t>-</a:t>
                      </a:r>
                    </a:p>
                  </a:txBody>
                  <a:tcPr anchor="ctr"/>
                </a:tc>
                <a:tc>
                  <a:txBody>
                    <a:bodyPr/>
                    <a:lstStyle/>
                    <a:p>
                      <a:pPr algn="ctr"/>
                      <a:r>
                        <a:rPr lang="en-US" sz="800" dirty="0">
                          <a:latin typeface="Poppins" panose="00000500000000000000" pitchFamily="2" charset="0"/>
                          <a:cs typeface="Poppins" panose="00000500000000000000" pitchFamily="2" charset="0"/>
                        </a:rPr>
                        <a:t>-</a:t>
                      </a:r>
                    </a:p>
                  </a:txBody>
                  <a:tcPr anchor="ctr"/>
                </a:tc>
                <a:extLst>
                  <a:ext uri="{0D108BD9-81ED-4DB2-BD59-A6C34878D82A}">
                    <a16:rowId xmlns:a16="http://schemas.microsoft.com/office/drawing/2014/main" val="2715775459"/>
                  </a:ext>
                </a:extLst>
              </a:tr>
            </a:tbl>
          </a:graphicData>
        </a:graphic>
      </p:graphicFrame>
      <p:sp>
        <p:nvSpPr>
          <p:cNvPr id="61" name="TextBox 159">
            <a:extLst>
              <a:ext uri="{FF2B5EF4-FFF2-40B4-BE49-F238E27FC236}">
                <a16:creationId xmlns:a16="http://schemas.microsoft.com/office/drawing/2014/main" id="{7E73CAD5-BF24-B821-C627-DECEE18D4A94}"/>
              </a:ext>
            </a:extLst>
          </p:cNvPr>
          <p:cNvSpPr txBox="1"/>
          <p:nvPr/>
        </p:nvSpPr>
        <p:spPr>
          <a:xfrm>
            <a:off x="152400" y="3670968"/>
            <a:ext cx="2034540" cy="184922"/>
          </a:xfrm>
          <a:prstGeom prst="rect">
            <a:avLst/>
          </a:prstGeom>
        </p:spPr>
        <p:txBody>
          <a:bodyPr wrap="square" lIns="0" tIns="0" rIns="0" bIns="0" rtlCol="0" anchor="t">
            <a:spAutoFit/>
          </a:bodyPr>
          <a:lstStyle/>
          <a:p>
            <a:pPr algn="l">
              <a:lnSpc>
                <a:spcPts val="1400"/>
              </a:lnSpc>
              <a:spcBef>
                <a:spcPct val="0"/>
              </a:spcBef>
            </a:pPr>
            <a:r>
              <a:rPr lang="en-US" sz="1400" b="1" dirty="0">
                <a:solidFill>
                  <a:srgbClr val="000000"/>
                </a:solidFill>
                <a:latin typeface="Poppins"/>
                <a:ea typeface="Poppins"/>
                <a:cs typeface="Poppins"/>
                <a:sym typeface="Poppins"/>
              </a:rPr>
              <a:t>Revision History</a:t>
            </a:r>
            <a:endParaRPr lang="en-US" sz="1400" dirty="0">
              <a:solidFill>
                <a:srgbClr val="000000"/>
              </a:solidFill>
              <a:latin typeface="Poppins"/>
              <a:ea typeface="Poppins"/>
              <a:cs typeface="Poppins"/>
              <a:sym typeface="Poppins"/>
            </a:endParaRPr>
          </a:p>
        </p:txBody>
      </p:sp>
      <p:pic>
        <p:nvPicPr>
          <p:cNvPr id="68" name="Drawing 6">
            <a:extLst>
              <a:ext uri="{FF2B5EF4-FFF2-40B4-BE49-F238E27FC236}">
                <a16:creationId xmlns:a16="http://schemas.microsoft.com/office/drawing/2014/main" id="{40D27F24-F6CE-CCD6-126D-50D15A2FFEA3}"/>
              </a:ext>
            </a:extLst>
          </p:cNvPr>
          <p:cNvPicPr>
            <a:picLocks noChangeAspect="1"/>
          </p:cNvPicPr>
          <p:nvPr/>
        </p:nvPicPr>
        <p:blipFill>
          <a:blip r:embed="rId5"/>
          <a:stretch>
            <a:fillRect/>
          </a:stretch>
        </p:blipFill>
        <p:spPr>
          <a:xfrm>
            <a:off x="160049" y="7556075"/>
            <a:ext cx="216257" cy="185363"/>
          </a:xfrm>
          <a:prstGeom prst="rect">
            <a:avLst/>
          </a:prstGeom>
        </p:spPr>
      </p:pic>
    </p:spTree>
    <p:extLst>
      <p:ext uri="{BB962C8B-B14F-4D97-AF65-F5344CB8AC3E}">
        <p14:creationId xmlns:p14="http://schemas.microsoft.com/office/powerpoint/2010/main" val="4008243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9">
            <a:extLst>
              <a:ext uri="{FF2B5EF4-FFF2-40B4-BE49-F238E27FC236}">
                <a16:creationId xmlns:a16="http://schemas.microsoft.com/office/drawing/2014/main" id="{512263B8-1449-DDCA-5AF6-78C78D301780}"/>
              </a:ext>
            </a:extLst>
          </p:cNvPr>
          <p:cNvSpPr txBox="1"/>
          <p:nvPr/>
        </p:nvSpPr>
        <p:spPr>
          <a:xfrm>
            <a:off x="281056" y="204512"/>
            <a:ext cx="3474720" cy="184922"/>
          </a:xfrm>
          <a:prstGeom prst="rect">
            <a:avLst/>
          </a:prstGeom>
        </p:spPr>
        <p:txBody>
          <a:bodyPr wrap="square" lIns="0" tIns="0" rIns="0" bIns="0" rtlCol="0" anchor="t">
            <a:spAutoFit/>
          </a:bodyPr>
          <a:lstStyle/>
          <a:p>
            <a:pPr algn="l">
              <a:lnSpc>
                <a:spcPts val="1400"/>
              </a:lnSpc>
              <a:spcBef>
                <a:spcPct val="0"/>
              </a:spcBef>
            </a:pPr>
            <a:r>
              <a:rPr lang="en-US" sz="1400" b="1" dirty="0">
                <a:solidFill>
                  <a:srgbClr val="000000"/>
                </a:solidFill>
                <a:latin typeface="Poppins"/>
                <a:ea typeface="Poppins"/>
                <a:cs typeface="Poppins"/>
                <a:sym typeface="Poppins"/>
              </a:rPr>
              <a:t>4. Business Process Flow</a:t>
            </a:r>
            <a:endParaRPr lang="en-US" sz="1400" dirty="0">
              <a:solidFill>
                <a:srgbClr val="000000"/>
              </a:solidFill>
              <a:latin typeface="Poppins"/>
              <a:ea typeface="Poppins"/>
              <a:cs typeface="Poppins"/>
              <a:sym typeface="Poppins"/>
            </a:endParaRPr>
          </a:p>
        </p:txBody>
      </p:sp>
      <p:graphicFrame>
        <p:nvGraphicFramePr>
          <p:cNvPr id="4" name="Diagram 3">
            <a:extLst>
              <a:ext uri="{FF2B5EF4-FFF2-40B4-BE49-F238E27FC236}">
                <a16:creationId xmlns:a16="http://schemas.microsoft.com/office/drawing/2014/main" id="{1824B7EC-DCA1-BAE6-104B-F70623FD8A91}"/>
              </a:ext>
            </a:extLst>
          </p:cNvPr>
          <p:cNvGraphicFramePr/>
          <p:nvPr>
            <p:extLst>
              <p:ext uri="{D42A27DB-BD31-4B8C-83A1-F6EECF244321}">
                <p14:modId xmlns:p14="http://schemas.microsoft.com/office/powerpoint/2010/main" val="2141015104"/>
              </p:ext>
            </p:extLst>
          </p:nvPr>
        </p:nvGraphicFramePr>
        <p:xfrm>
          <a:off x="192915" y="350521"/>
          <a:ext cx="6472169" cy="1314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159">
            <a:extLst>
              <a:ext uri="{FF2B5EF4-FFF2-40B4-BE49-F238E27FC236}">
                <a16:creationId xmlns:a16="http://schemas.microsoft.com/office/drawing/2014/main" id="{E0CF10ED-F62B-E808-1F5F-74D7E5764AF6}"/>
              </a:ext>
            </a:extLst>
          </p:cNvPr>
          <p:cNvSpPr txBox="1"/>
          <p:nvPr/>
        </p:nvSpPr>
        <p:spPr>
          <a:xfrm>
            <a:off x="297690" y="1883627"/>
            <a:ext cx="3474720" cy="184922"/>
          </a:xfrm>
          <a:prstGeom prst="rect">
            <a:avLst/>
          </a:prstGeom>
        </p:spPr>
        <p:txBody>
          <a:bodyPr wrap="square" lIns="0" tIns="0" rIns="0" bIns="0" rtlCol="0" anchor="t">
            <a:spAutoFit/>
          </a:bodyPr>
          <a:lstStyle/>
          <a:p>
            <a:pPr algn="l">
              <a:lnSpc>
                <a:spcPts val="1400"/>
              </a:lnSpc>
              <a:spcBef>
                <a:spcPct val="0"/>
              </a:spcBef>
            </a:pPr>
            <a:r>
              <a:rPr lang="en-US" sz="1400" b="1" dirty="0">
                <a:solidFill>
                  <a:srgbClr val="000000"/>
                </a:solidFill>
                <a:latin typeface="Poppins"/>
                <a:ea typeface="Poppins"/>
                <a:cs typeface="Poppins"/>
                <a:sym typeface="Poppins"/>
              </a:rPr>
              <a:t>5. Business Rules</a:t>
            </a:r>
            <a:endParaRPr lang="en-US" sz="1400" dirty="0">
              <a:solidFill>
                <a:srgbClr val="000000"/>
              </a:solidFill>
              <a:latin typeface="Poppins"/>
              <a:ea typeface="Poppins"/>
              <a:cs typeface="Poppins"/>
              <a:sym typeface="Poppins"/>
            </a:endParaRPr>
          </a:p>
        </p:txBody>
      </p:sp>
      <p:graphicFrame>
        <p:nvGraphicFramePr>
          <p:cNvPr id="12" name="Table 11">
            <a:extLst>
              <a:ext uri="{FF2B5EF4-FFF2-40B4-BE49-F238E27FC236}">
                <a16:creationId xmlns:a16="http://schemas.microsoft.com/office/drawing/2014/main" id="{14947744-3475-E16E-D25D-191A0275FEED}"/>
              </a:ext>
            </a:extLst>
          </p:cNvPr>
          <p:cNvGraphicFramePr>
            <a:graphicFrameLocks noGrp="1"/>
          </p:cNvGraphicFramePr>
          <p:nvPr>
            <p:extLst>
              <p:ext uri="{D42A27DB-BD31-4B8C-83A1-F6EECF244321}">
                <p14:modId xmlns:p14="http://schemas.microsoft.com/office/powerpoint/2010/main" val="299594129"/>
              </p:ext>
            </p:extLst>
          </p:nvPr>
        </p:nvGraphicFramePr>
        <p:xfrm>
          <a:off x="160049" y="2319170"/>
          <a:ext cx="6366605" cy="952500"/>
        </p:xfrm>
        <a:graphic>
          <a:graphicData uri="http://schemas.openxmlformats.org/drawingml/2006/table">
            <a:tbl>
              <a:tblPr firstRow="1">
                <a:tableStyleId>{8799B23B-EC83-4686-B30A-512413B5E67A}</a:tableStyleId>
              </a:tblPr>
              <a:tblGrid>
                <a:gridCol w="582901">
                  <a:extLst>
                    <a:ext uri="{9D8B030D-6E8A-4147-A177-3AD203B41FA5}">
                      <a16:colId xmlns:a16="http://schemas.microsoft.com/office/drawing/2014/main" val="2231877261"/>
                    </a:ext>
                  </a:extLst>
                </a:gridCol>
                <a:gridCol w="5783704">
                  <a:extLst>
                    <a:ext uri="{9D8B030D-6E8A-4147-A177-3AD203B41FA5}">
                      <a16:colId xmlns:a16="http://schemas.microsoft.com/office/drawing/2014/main" val="3964042735"/>
                    </a:ext>
                  </a:extLst>
                </a:gridCol>
              </a:tblGrid>
              <a:tr h="208448">
                <a:tc>
                  <a:txBody>
                    <a:bodyPr/>
                    <a:lstStyle/>
                    <a:p>
                      <a:pPr algn="ctr"/>
                      <a:r>
                        <a:rPr lang="en-US" sz="1050" dirty="0">
                          <a:solidFill>
                            <a:schemeClr val="tx1"/>
                          </a:solidFill>
                          <a:latin typeface="Poppins" panose="00000500000000000000" pitchFamily="2" charset="0"/>
                          <a:cs typeface="Poppins" panose="00000500000000000000" pitchFamily="2" charset="0"/>
                        </a:rPr>
                        <a:t>ID</a:t>
                      </a:r>
                    </a:p>
                  </a:txBody>
                  <a:tcPr anchor="ctr"/>
                </a:tc>
                <a:tc>
                  <a:txBody>
                    <a:bodyPr/>
                    <a:lstStyle/>
                    <a:p>
                      <a:pPr algn="ctr"/>
                      <a:r>
                        <a:rPr lang="en-US" sz="1050" dirty="0">
                          <a:solidFill>
                            <a:schemeClr val="tx1"/>
                          </a:solidFill>
                        </a:rPr>
                        <a:t>Rule</a:t>
                      </a:r>
                      <a:endParaRPr lang="en-US" sz="1050" dirty="0">
                        <a:solidFill>
                          <a:schemeClr val="tx1"/>
                        </a:solidFill>
                        <a:latin typeface="Poppins" panose="00000500000000000000" pitchFamily="2" charset="0"/>
                        <a:cs typeface="Poppins" panose="00000500000000000000" pitchFamily="2" charset="0"/>
                      </a:endParaRPr>
                    </a:p>
                  </a:txBody>
                  <a:tcPr anchor="ctr"/>
                </a:tc>
                <a:extLst>
                  <a:ext uri="{0D108BD9-81ED-4DB2-BD59-A6C34878D82A}">
                    <a16:rowId xmlns:a16="http://schemas.microsoft.com/office/drawing/2014/main" val="3958262478"/>
                  </a:ext>
                </a:extLst>
              </a:tr>
              <a:tr h="257392">
                <a:tc>
                  <a:txBody>
                    <a:bodyPr/>
                    <a:lstStyle/>
                    <a:p>
                      <a:pPr algn="ctr"/>
                      <a:r>
                        <a:rPr lang="en-US" sz="800" dirty="0">
                          <a:latin typeface="Poppins" panose="00000500000000000000" pitchFamily="2" charset="0"/>
                          <a:cs typeface="Poppins" panose="00000500000000000000" pitchFamily="2" charset="0"/>
                        </a:rPr>
                        <a:t>FR-1.1</a:t>
                      </a:r>
                    </a:p>
                  </a:txBody>
                  <a:tcPr anchor="ctr"/>
                </a:tc>
                <a:tc>
                  <a:txBody>
                    <a:bodyPr/>
                    <a:lstStyle/>
                    <a:p>
                      <a:pPr algn="l"/>
                      <a:r>
                        <a:rPr lang="en-US" sz="800" dirty="0">
                          <a:latin typeface="Poppins" panose="00000500000000000000" pitchFamily="2" charset="0"/>
                          <a:cs typeface="Poppins" panose="00000500000000000000" pitchFamily="2" charset="0"/>
                        </a:rPr>
                        <a:t>The dashboard must load filtered records only after the user executes a search with mandatory Unit, From Date, and To Date selections.</a:t>
                      </a:r>
                    </a:p>
                  </a:txBody>
                  <a:tcPr anchor="ctr"/>
                </a:tc>
                <a:extLst>
                  <a:ext uri="{0D108BD9-81ED-4DB2-BD59-A6C34878D82A}">
                    <a16:rowId xmlns:a16="http://schemas.microsoft.com/office/drawing/2014/main" val="2715775459"/>
                  </a:ext>
                </a:extLst>
              </a:tr>
              <a:tr h="25739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dirty="0">
                          <a:latin typeface="Poppins" panose="00000500000000000000" pitchFamily="2" charset="0"/>
                          <a:cs typeface="Poppins" panose="00000500000000000000" pitchFamily="2" charset="0"/>
                        </a:rPr>
                        <a:t>FR-1.2</a:t>
                      </a:r>
                    </a:p>
                  </a:txBody>
                  <a:tcPr anchor="ctr"/>
                </a:tc>
                <a:tc>
                  <a:txBody>
                    <a:bodyPr/>
                    <a:lstStyle/>
                    <a:p>
                      <a:pPr algn="l"/>
                      <a:r>
                        <a:rPr lang="en-US" sz="900" b="0" dirty="0">
                          <a:latin typeface="Poppins" panose="00000500000000000000" pitchFamily="2" charset="0"/>
                          <a:cs typeface="Poppins" panose="00000500000000000000" pitchFamily="2" charset="0"/>
                        </a:rPr>
                        <a:t>Global Search can use after perform search based on filter criteria. Here user can search anything within the reporting grid and reporting grid will filter based on the global search.</a:t>
                      </a:r>
                    </a:p>
                  </a:txBody>
                  <a:tcPr anchor="ctr"/>
                </a:tc>
                <a:extLst>
                  <a:ext uri="{0D108BD9-81ED-4DB2-BD59-A6C34878D82A}">
                    <a16:rowId xmlns:a16="http://schemas.microsoft.com/office/drawing/2014/main" val="3715423005"/>
                  </a:ext>
                </a:extLst>
              </a:tr>
            </a:tbl>
          </a:graphicData>
        </a:graphic>
      </p:graphicFrame>
      <p:sp>
        <p:nvSpPr>
          <p:cNvPr id="14" name="TextBox 162">
            <a:extLst>
              <a:ext uri="{FF2B5EF4-FFF2-40B4-BE49-F238E27FC236}">
                <a16:creationId xmlns:a16="http://schemas.microsoft.com/office/drawing/2014/main" id="{C28AD51E-A977-8EA6-3EF5-413B4C6442D5}"/>
              </a:ext>
            </a:extLst>
          </p:cNvPr>
          <p:cNvSpPr txBox="1"/>
          <p:nvPr/>
        </p:nvSpPr>
        <p:spPr>
          <a:xfrm>
            <a:off x="156844" y="2079464"/>
            <a:ext cx="6369810" cy="170560"/>
          </a:xfrm>
          <a:prstGeom prst="rect">
            <a:avLst/>
          </a:prstGeom>
        </p:spPr>
        <p:txBody>
          <a:bodyPr wrap="square" lIns="0" tIns="0" rIns="0" bIns="0" rtlCol="0" anchor="t">
            <a:spAutoFit/>
          </a:bodyPr>
          <a:lstStyle/>
          <a:p>
            <a:pPr algn="ctr">
              <a:lnSpc>
                <a:spcPts val="1400"/>
              </a:lnSpc>
              <a:spcBef>
                <a:spcPct val="0"/>
              </a:spcBef>
            </a:pPr>
            <a:r>
              <a:rPr lang="en-US" sz="1000" b="1" dirty="0">
                <a:latin typeface="Poppins" panose="00000500000000000000" pitchFamily="2" charset="0"/>
                <a:cs typeface="Poppins" panose="00000500000000000000" pitchFamily="2" charset="0"/>
              </a:rPr>
              <a:t>5.1 Functional Requirements</a:t>
            </a:r>
            <a:endParaRPr lang="en-US" sz="700" dirty="0">
              <a:solidFill>
                <a:srgbClr val="000000"/>
              </a:solidFill>
              <a:latin typeface="Poppins" panose="00000500000000000000" pitchFamily="2" charset="0"/>
              <a:ea typeface="Poppins"/>
              <a:cs typeface="Poppins" panose="00000500000000000000" pitchFamily="2" charset="0"/>
              <a:sym typeface="Poppins"/>
            </a:endParaRPr>
          </a:p>
        </p:txBody>
      </p:sp>
      <p:sp>
        <p:nvSpPr>
          <p:cNvPr id="18" name="TextBox 162">
            <a:extLst>
              <a:ext uri="{FF2B5EF4-FFF2-40B4-BE49-F238E27FC236}">
                <a16:creationId xmlns:a16="http://schemas.microsoft.com/office/drawing/2014/main" id="{1D5BCF9C-5118-04ED-2830-D387FF181B49}"/>
              </a:ext>
            </a:extLst>
          </p:cNvPr>
          <p:cNvSpPr txBox="1"/>
          <p:nvPr/>
        </p:nvSpPr>
        <p:spPr>
          <a:xfrm>
            <a:off x="153639" y="3866164"/>
            <a:ext cx="6369810" cy="170560"/>
          </a:xfrm>
          <a:prstGeom prst="rect">
            <a:avLst/>
          </a:prstGeom>
        </p:spPr>
        <p:txBody>
          <a:bodyPr wrap="square" lIns="0" tIns="0" rIns="0" bIns="0" rtlCol="0" anchor="t">
            <a:spAutoFit/>
          </a:bodyPr>
          <a:lstStyle/>
          <a:p>
            <a:pPr algn="ctr">
              <a:lnSpc>
                <a:spcPts val="1400"/>
              </a:lnSpc>
              <a:spcBef>
                <a:spcPct val="0"/>
              </a:spcBef>
            </a:pPr>
            <a:r>
              <a:rPr lang="en-US" sz="1000" b="1" dirty="0">
                <a:latin typeface="Poppins" panose="00000500000000000000" pitchFamily="2" charset="0"/>
                <a:cs typeface="Poppins" panose="00000500000000000000" pitchFamily="2" charset="0"/>
              </a:rPr>
              <a:t>5.2 Field Mapping</a:t>
            </a:r>
            <a:endParaRPr lang="en-US" sz="700" dirty="0">
              <a:solidFill>
                <a:srgbClr val="000000"/>
              </a:solidFill>
              <a:latin typeface="Poppins" panose="00000500000000000000" pitchFamily="2" charset="0"/>
              <a:ea typeface="Poppins"/>
              <a:cs typeface="Poppins" panose="00000500000000000000" pitchFamily="2" charset="0"/>
              <a:sym typeface="Poppins"/>
            </a:endParaRPr>
          </a:p>
        </p:txBody>
      </p:sp>
      <p:graphicFrame>
        <p:nvGraphicFramePr>
          <p:cNvPr id="22" name="Table 21">
            <a:extLst>
              <a:ext uri="{FF2B5EF4-FFF2-40B4-BE49-F238E27FC236}">
                <a16:creationId xmlns:a16="http://schemas.microsoft.com/office/drawing/2014/main" id="{0476F7BD-4713-F362-70ED-25DB1C0037F7}"/>
              </a:ext>
            </a:extLst>
          </p:cNvPr>
          <p:cNvGraphicFramePr>
            <a:graphicFrameLocks noGrp="1"/>
          </p:cNvGraphicFramePr>
          <p:nvPr>
            <p:extLst>
              <p:ext uri="{D42A27DB-BD31-4B8C-83A1-F6EECF244321}">
                <p14:modId xmlns:p14="http://schemas.microsoft.com/office/powerpoint/2010/main" val="3051387096"/>
              </p:ext>
            </p:extLst>
          </p:nvPr>
        </p:nvGraphicFramePr>
        <p:xfrm>
          <a:off x="160049" y="4096985"/>
          <a:ext cx="6402677" cy="5694763"/>
        </p:xfrm>
        <a:graphic>
          <a:graphicData uri="http://schemas.openxmlformats.org/drawingml/2006/table">
            <a:tbl>
              <a:tblPr firstRow="1">
                <a:tableStyleId>{8799B23B-EC83-4686-B30A-512413B5E67A}</a:tableStyleId>
              </a:tblPr>
              <a:tblGrid>
                <a:gridCol w="1295700">
                  <a:extLst>
                    <a:ext uri="{9D8B030D-6E8A-4147-A177-3AD203B41FA5}">
                      <a16:colId xmlns:a16="http://schemas.microsoft.com/office/drawing/2014/main" val="2231877261"/>
                    </a:ext>
                  </a:extLst>
                </a:gridCol>
                <a:gridCol w="1907174">
                  <a:extLst>
                    <a:ext uri="{9D8B030D-6E8A-4147-A177-3AD203B41FA5}">
                      <a16:colId xmlns:a16="http://schemas.microsoft.com/office/drawing/2014/main" val="3964042735"/>
                    </a:ext>
                  </a:extLst>
                </a:gridCol>
                <a:gridCol w="1121304">
                  <a:extLst>
                    <a:ext uri="{9D8B030D-6E8A-4147-A177-3AD203B41FA5}">
                      <a16:colId xmlns:a16="http://schemas.microsoft.com/office/drawing/2014/main" val="2129427023"/>
                    </a:ext>
                  </a:extLst>
                </a:gridCol>
                <a:gridCol w="2078499">
                  <a:extLst>
                    <a:ext uri="{9D8B030D-6E8A-4147-A177-3AD203B41FA5}">
                      <a16:colId xmlns:a16="http://schemas.microsoft.com/office/drawing/2014/main" val="2864033036"/>
                    </a:ext>
                  </a:extLst>
                </a:gridCol>
              </a:tblGrid>
              <a:tr h="208448">
                <a:tc>
                  <a:txBody>
                    <a:bodyPr/>
                    <a:lstStyle/>
                    <a:p>
                      <a:pPr algn="ctr"/>
                      <a:r>
                        <a:rPr lang="en-US" sz="1050" b="1" dirty="0">
                          <a:latin typeface="Poppins" panose="00000500000000000000" pitchFamily="2" charset="0"/>
                          <a:cs typeface="Poppins" panose="00000500000000000000" pitchFamily="2" charset="0"/>
                        </a:rPr>
                        <a:t>Source</a:t>
                      </a:r>
                      <a:endParaRPr lang="en-US" sz="1050" b="1" dirty="0">
                        <a:solidFill>
                          <a:schemeClr val="tx1"/>
                        </a:solidFill>
                        <a:latin typeface="Poppins" panose="00000500000000000000" pitchFamily="2" charset="0"/>
                        <a:cs typeface="Poppins" panose="00000500000000000000" pitchFamily="2" charset="0"/>
                      </a:endParaRPr>
                    </a:p>
                  </a:txBody>
                  <a:tcPr anchor="ctr"/>
                </a:tc>
                <a:tc>
                  <a:txBody>
                    <a:bodyPr/>
                    <a:lstStyle/>
                    <a:p>
                      <a:pPr algn="ctr"/>
                      <a:r>
                        <a:rPr lang="en-US" sz="1050" b="1" dirty="0">
                          <a:solidFill>
                            <a:schemeClr val="tx1"/>
                          </a:solidFill>
                          <a:latin typeface="Poppins" panose="00000500000000000000" pitchFamily="2" charset="0"/>
                          <a:cs typeface="Poppins" panose="00000500000000000000" pitchFamily="2" charset="0"/>
                        </a:rPr>
                        <a:t>Header Label</a:t>
                      </a:r>
                    </a:p>
                  </a:txBody>
                  <a:tcPr anchor="ctr"/>
                </a:tc>
                <a:tc>
                  <a:txBody>
                    <a:bodyPr/>
                    <a:lstStyle/>
                    <a:p>
                      <a:pPr algn="ctr"/>
                      <a:r>
                        <a:rPr lang="en-US" sz="1050" b="1" dirty="0">
                          <a:solidFill>
                            <a:schemeClr val="tx1"/>
                          </a:solidFill>
                          <a:latin typeface="Poppins" panose="00000500000000000000" pitchFamily="2" charset="0"/>
                          <a:cs typeface="Poppins" panose="00000500000000000000" pitchFamily="2" charset="0"/>
                        </a:rPr>
                        <a:t>Data Type</a:t>
                      </a:r>
                    </a:p>
                  </a:txBody>
                  <a:tcPr anchor="ctr"/>
                </a:tc>
                <a:tc>
                  <a:txBody>
                    <a:bodyPr/>
                    <a:lstStyle/>
                    <a:p>
                      <a:pPr algn="ctr"/>
                      <a:r>
                        <a:rPr lang="en-US" sz="1050" b="1" dirty="0">
                          <a:latin typeface="Poppins" panose="00000500000000000000" pitchFamily="2" charset="0"/>
                          <a:cs typeface="Poppins" panose="00000500000000000000" pitchFamily="2" charset="0"/>
                        </a:rPr>
                        <a:t>Behavior</a:t>
                      </a:r>
                      <a:endParaRPr lang="en-US" sz="1050" b="1" dirty="0">
                        <a:solidFill>
                          <a:schemeClr val="tx1"/>
                        </a:solidFill>
                        <a:latin typeface="Poppins" panose="00000500000000000000" pitchFamily="2" charset="0"/>
                        <a:cs typeface="Poppins" panose="00000500000000000000" pitchFamily="2" charset="0"/>
                      </a:endParaRPr>
                    </a:p>
                  </a:txBody>
                  <a:tcPr anchor="ctr"/>
                </a:tc>
                <a:extLst>
                  <a:ext uri="{0D108BD9-81ED-4DB2-BD59-A6C34878D82A}">
                    <a16:rowId xmlns:a16="http://schemas.microsoft.com/office/drawing/2014/main" val="3958262478"/>
                  </a:ext>
                </a:extLst>
              </a:tr>
              <a:tr h="257392">
                <a:tc>
                  <a:txBody>
                    <a:bodyPr/>
                    <a:lstStyle/>
                    <a:p>
                      <a:pPr algn="ctr">
                        <a:buNone/>
                      </a:pPr>
                      <a:r>
                        <a:rPr lang="en-US" sz="800" b="1" dirty="0">
                          <a:latin typeface="Poppins" panose="00000500000000000000" pitchFamily="2" charset="0"/>
                          <a:cs typeface="Poppins" panose="00000500000000000000" pitchFamily="2" charset="0"/>
                        </a:rPr>
                        <a:t>Filter Bar</a:t>
                      </a:r>
                    </a:p>
                  </a:txBody>
                  <a:tcPr anchor="ctr"/>
                </a:tc>
                <a:tc>
                  <a:txBody>
                    <a:bodyPr/>
                    <a:lstStyle/>
                    <a:p>
                      <a:pPr algn="ctr">
                        <a:buNone/>
                      </a:pPr>
                      <a:r>
                        <a:rPr lang="en-US" sz="800" b="1" dirty="0">
                          <a:latin typeface="Poppins" panose="00000500000000000000" pitchFamily="2" charset="0"/>
                          <a:cs typeface="Poppins" panose="00000500000000000000" pitchFamily="2" charset="0"/>
                        </a:rPr>
                        <a:t>Unit*</a:t>
                      </a:r>
                    </a:p>
                  </a:txBody>
                  <a:tcPr anchor="ctr"/>
                </a:tc>
                <a:tc>
                  <a:txBody>
                    <a:bodyPr/>
                    <a:lstStyle/>
                    <a:p>
                      <a:pPr algn="ctr">
                        <a:buNone/>
                      </a:pPr>
                      <a:r>
                        <a:rPr lang="en-US" sz="800" b="0" dirty="0">
                          <a:latin typeface="Poppins" panose="00000500000000000000" pitchFamily="2" charset="0"/>
                          <a:cs typeface="Poppins" panose="00000500000000000000" pitchFamily="2" charset="0"/>
                        </a:rPr>
                        <a:t>VARCHAR(100)</a:t>
                      </a:r>
                    </a:p>
                  </a:txBody>
                  <a:tcPr anchor="ctr"/>
                </a:tc>
                <a:tc>
                  <a:txBody>
                    <a:bodyPr/>
                    <a:lstStyle/>
                    <a:p>
                      <a:pPr>
                        <a:buNone/>
                      </a:pPr>
                      <a:r>
                        <a:rPr lang="en-US" sz="800" b="0" dirty="0">
                          <a:latin typeface="Poppins" panose="00000500000000000000" pitchFamily="2" charset="0"/>
                          <a:cs typeface="Poppins" panose="00000500000000000000" pitchFamily="2" charset="0"/>
                        </a:rPr>
                        <a:t>Dropdown, Mandatory. By default Concept Knitting Ltd. (Wash Unit)</a:t>
                      </a:r>
                    </a:p>
                  </a:txBody>
                  <a:tcPr anchor="ctr"/>
                </a:tc>
                <a:extLst>
                  <a:ext uri="{0D108BD9-81ED-4DB2-BD59-A6C34878D82A}">
                    <a16:rowId xmlns:a16="http://schemas.microsoft.com/office/drawing/2014/main" val="2715775459"/>
                  </a:ext>
                </a:extLst>
              </a:tr>
              <a:tr h="322615">
                <a:tc>
                  <a:txBody>
                    <a:bodyPr/>
                    <a:lstStyle/>
                    <a:p>
                      <a:pPr algn="ctr">
                        <a:buNone/>
                      </a:pPr>
                      <a:r>
                        <a:rPr lang="en-US" sz="800" b="1" dirty="0">
                          <a:latin typeface="Poppins" panose="00000500000000000000" pitchFamily="2" charset="0"/>
                          <a:cs typeface="Poppins" panose="00000500000000000000" pitchFamily="2" charset="0"/>
                        </a:rPr>
                        <a:t>Filter Bar</a:t>
                      </a:r>
                    </a:p>
                  </a:txBody>
                  <a:tcPr anchor="ctr"/>
                </a:tc>
                <a:tc>
                  <a:txBody>
                    <a:bodyPr/>
                    <a:lstStyle/>
                    <a:p>
                      <a:pPr algn="ctr">
                        <a:buNone/>
                      </a:pPr>
                      <a:r>
                        <a:rPr lang="en-US" sz="800" b="1" dirty="0">
                          <a:latin typeface="Poppins" panose="00000500000000000000" pitchFamily="2" charset="0"/>
                          <a:cs typeface="Poppins" panose="00000500000000000000" pitchFamily="2" charset="0"/>
                        </a:rPr>
                        <a:t>From Date*</a:t>
                      </a:r>
                    </a:p>
                  </a:txBody>
                  <a:tcPr anchor="ctr"/>
                </a:tc>
                <a:tc>
                  <a:txBody>
                    <a:bodyPr/>
                    <a:lstStyle/>
                    <a:p>
                      <a:pPr algn="ctr">
                        <a:buNone/>
                      </a:pPr>
                      <a:r>
                        <a:rPr lang="en-US" sz="800" b="0" dirty="0">
                          <a:latin typeface="Poppins" panose="00000500000000000000" pitchFamily="2" charset="0"/>
                          <a:cs typeface="Poppins" panose="00000500000000000000" pitchFamily="2" charset="0"/>
                        </a:rPr>
                        <a:t>DATE</a:t>
                      </a:r>
                    </a:p>
                  </a:txBody>
                  <a:tcPr anchor="ctr"/>
                </a:tc>
                <a:tc>
                  <a:txBody>
                    <a:bodyPr/>
                    <a:lstStyle/>
                    <a:p>
                      <a:pPr>
                        <a:buNone/>
                      </a:pPr>
                      <a:r>
                        <a:rPr lang="en-US" sz="800" b="0" dirty="0">
                          <a:latin typeface="Poppins" panose="00000500000000000000" pitchFamily="2" charset="0"/>
                          <a:cs typeface="Poppins" panose="00000500000000000000" pitchFamily="2" charset="0"/>
                        </a:rPr>
                        <a:t>Date Picker. Mandatory.</a:t>
                      </a:r>
                    </a:p>
                  </a:txBody>
                  <a:tcPr anchor="ctr"/>
                </a:tc>
                <a:extLst>
                  <a:ext uri="{0D108BD9-81ED-4DB2-BD59-A6C34878D82A}">
                    <a16:rowId xmlns:a16="http://schemas.microsoft.com/office/drawing/2014/main" val="1320785887"/>
                  </a:ext>
                </a:extLst>
              </a:tr>
              <a:tr h="257392">
                <a:tc>
                  <a:txBody>
                    <a:bodyPr/>
                    <a:lstStyle/>
                    <a:p>
                      <a:pPr algn="ctr">
                        <a:buNone/>
                      </a:pPr>
                      <a:r>
                        <a:rPr lang="en-US" sz="800" b="1" dirty="0">
                          <a:latin typeface="Poppins" panose="00000500000000000000" pitchFamily="2" charset="0"/>
                          <a:cs typeface="Poppins" panose="00000500000000000000" pitchFamily="2" charset="0"/>
                        </a:rPr>
                        <a:t>Filter Bar</a:t>
                      </a:r>
                    </a:p>
                  </a:txBody>
                  <a:tcPr anchor="ctr"/>
                </a:tc>
                <a:tc>
                  <a:txBody>
                    <a:bodyPr/>
                    <a:lstStyle/>
                    <a:p>
                      <a:pPr algn="ctr">
                        <a:buNone/>
                      </a:pPr>
                      <a:r>
                        <a:rPr lang="en-US" sz="800" b="1" dirty="0">
                          <a:latin typeface="Poppins" panose="00000500000000000000" pitchFamily="2" charset="0"/>
                          <a:cs typeface="Poppins" panose="00000500000000000000" pitchFamily="2" charset="0"/>
                        </a:rPr>
                        <a:t>To Date*</a:t>
                      </a:r>
                    </a:p>
                  </a:txBody>
                  <a:tcPr anchor="ctr"/>
                </a:tc>
                <a:tc>
                  <a:txBody>
                    <a:bodyPr/>
                    <a:lstStyle/>
                    <a:p>
                      <a:pPr algn="ctr">
                        <a:buNone/>
                      </a:pPr>
                      <a:r>
                        <a:rPr lang="en-US" sz="800" b="0" dirty="0">
                          <a:latin typeface="Poppins" panose="00000500000000000000" pitchFamily="2" charset="0"/>
                          <a:cs typeface="Poppins" panose="00000500000000000000" pitchFamily="2" charset="0"/>
                        </a:rPr>
                        <a:t>DATE</a:t>
                      </a:r>
                    </a:p>
                  </a:txBody>
                  <a:tcPr anchor="ctr"/>
                </a:tc>
                <a:tc>
                  <a:txBody>
                    <a:bodyPr/>
                    <a:lstStyle/>
                    <a:p>
                      <a:pPr>
                        <a:buNone/>
                      </a:pPr>
                      <a:r>
                        <a:rPr lang="en-US" sz="800" b="0" dirty="0">
                          <a:latin typeface="Poppins" panose="00000500000000000000" pitchFamily="2" charset="0"/>
                          <a:cs typeface="Poppins" panose="00000500000000000000" pitchFamily="2" charset="0"/>
                        </a:rPr>
                        <a:t>Date Picker. Mandatory. </a:t>
                      </a:r>
                      <a:r>
                        <a:rPr lang="en-US" sz="800" b="0" kern="1200" dirty="0">
                          <a:solidFill>
                            <a:schemeClr val="tx1"/>
                          </a:solidFill>
                          <a:latin typeface="Poppins" panose="00000500000000000000" pitchFamily="2" charset="0"/>
                          <a:ea typeface="+mn-ea"/>
                          <a:cs typeface="Poppins" panose="00000500000000000000" pitchFamily="2" charset="0"/>
                        </a:rPr>
                        <a:t>To Date by default current date but can be editable</a:t>
                      </a:r>
                      <a:endParaRPr lang="en-US" sz="800" b="0" dirty="0">
                        <a:latin typeface="Poppins" panose="00000500000000000000" pitchFamily="2" charset="0"/>
                        <a:cs typeface="Poppins" panose="00000500000000000000" pitchFamily="2" charset="0"/>
                      </a:endParaRPr>
                    </a:p>
                  </a:txBody>
                  <a:tcPr anchor="ctr"/>
                </a:tc>
                <a:extLst>
                  <a:ext uri="{0D108BD9-81ED-4DB2-BD59-A6C34878D82A}">
                    <a16:rowId xmlns:a16="http://schemas.microsoft.com/office/drawing/2014/main" val="14448017"/>
                  </a:ext>
                </a:extLst>
              </a:tr>
              <a:tr h="257392">
                <a:tc>
                  <a:txBody>
                    <a:bodyPr/>
                    <a:lstStyle/>
                    <a:p>
                      <a:pPr algn="ctr">
                        <a:buNone/>
                      </a:pPr>
                      <a:r>
                        <a:rPr lang="en-US" sz="800" b="1" dirty="0">
                          <a:latin typeface="Poppins" panose="00000500000000000000" pitchFamily="2" charset="0"/>
                          <a:cs typeface="Poppins" panose="00000500000000000000" pitchFamily="2" charset="0"/>
                        </a:rPr>
                        <a:t>Filter Bar</a:t>
                      </a:r>
                    </a:p>
                  </a:txBody>
                  <a:tcPr anchor="ctr"/>
                </a:tc>
                <a:tc>
                  <a:txBody>
                    <a:bodyPr/>
                    <a:lstStyle/>
                    <a:p>
                      <a:pPr algn="ctr">
                        <a:buNone/>
                      </a:pPr>
                      <a:r>
                        <a:rPr lang="en-US" sz="800" b="1" dirty="0">
                          <a:latin typeface="Poppins" panose="00000500000000000000" pitchFamily="2" charset="0"/>
                          <a:cs typeface="Poppins" panose="00000500000000000000" pitchFamily="2" charset="0"/>
                        </a:rPr>
                        <a:t>Global Search</a:t>
                      </a:r>
                    </a:p>
                  </a:txBody>
                  <a:tcPr anchor="ctr"/>
                </a:tc>
                <a:tc>
                  <a:txBody>
                    <a:bodyPr/>
                    <a:lstStyle/>
                    <a:p>
                      <a:pPr algn="ctr">
                        <a:buNone/>
                      </a:pPr>
                      <a:r>
                        <a:rPr lang="en-US" sz="800" b="0" dirty="0">
                          <a:latin typeface="Poppins" panose="00000500000000000000" pitchFamily="2" charset="0"/>
                          <a:cs typeface="Poppins" panose="00000500000000000000" pitchFamily="2" charset="0"/>
                        </a:rPr>
                        <a:t>VARCHAR(100)</a:t>
                      </a:r>
                    </a:p>
                  </a:txBody>
                  <a:tcPr anchor="ctr"/>
                </a:tc>
                <a:tc>
                  <a:txBody>
                    <a:bodyPr/>
                    <a:lstStyle/>
                    <a:p>
                      <a:pPr>
                        <a:buNone/>
                      </a:pPr>
                      <a:r>
                        <a:rPr lang="en-US" sz="800" b="0" dirty="0">
                          <a:latin typeface="Poppins" panose="00000500000000000000" pitchFamily="2" charset="0"/>
                          <a:cs typeface="Poppins" panose="00000500000000000000" pitchFamily="2" charset="0"/>
                        </a:rPr>
                        <a:t>Free-text inline filter.</a:t>
                      </a:r>
                    </a:p>
                  </a:txBody>
                  <a:tcPr anchor="ctr"/>
                </a:tc>
                <a:extLst>
                  <a:ext uri="{0D108BD9-81ED-4DB2-BD59-A6C34878D82A}">
                    <a16:rowId xmlns:a16="http://schemas.microsoft.com/office/drawing/2014/main" val="908685681"/>
                  </a:ext>
                </a:extLst>
              </a:tr>
              <a:tr h="257392">
                <a:tc>
                  <a:txBody>
                    <a:bodyPr/>
                    <a:lstStyle/>
                    <a:p>
                      <a:pPr algn="ctr">
                        <a:buNone/>
                      </a:pPr>
                      <a:r>
                        <a:rPr lang="en-US" sz="800" b="1" dirty="0">
                          <a:latin typeface="Poppins" panose="00000500000000000000" pitchFamily="2" charset="0"/>
                          <a:cs typeface="Poppins" panose="00000500000000000000" pitchFamily="2" charset="0"/>
                        </a:rPr>
                        <a:t>QC Operation</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1" dirty="0">
                          <a:latin typeface="Poppins" panose="00000500000000000000" pitchFamily="2" charset="0"/>
                          <a:cs typeface="Poppins" panose="00000500000000000000" pitchFamily="2" charset="0"/>
                        </a:rPr>
                        <a:t>Date</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0" dirty="0">
                          <a:latin typeface="Poppins" panose="00000500000000000000" pitchFamily="2" charset="0"/>
                          <a:cs typeface="Poppins" panose="00000500000000000000" pitchFamily="2" charset="0"/>
                        </a:rPr>
                        <a:t>DATE</a:t>
                      </a:r>
                    </a:p>
                  </a:txBody>
                  <a:tcPr anchor="ctr"/>
                </a:tc>
                <a:tc>
                  <a:txBody>
                    <a:bodyPr/>
                    <a:lstStyle/>
                    <a:p>
                      <a:pPr algn="l"/>
                      <a:r>
                        <a:rPr lang="en-US" sz="800" b="0" dirty="0">
                          <a:latin typeface="Poppins" panose="00000500000000000000" pitchFamily="2" charset="0"/>
                          <a:cs typeface="Poppins" panose="00000500000000000000" pitchFamily="2" charset="0"/>
                        </a:rPr>
                        <a:t>Format should be </a:t>
                      </a:r>
                      <a:r>
                        <a:rPr lang="en-US" sz="800" b="1" dirty="0">
                          <a:latin typeface="Poppins" panose="00000500000000000000" pitchFamily="2" charset="0"/>
                          <a:cs typeface="Poppins" panose="00000500000000000000" pitchFamily="2" charset="0"/>
                        </a:rPr>
                        <a:t>dd-mmm-</a:t>
                      </a:r>
                      <a:r>
                        <a:rPr lang="en-US" sz="800" b="1" dirty="0" err="1">
                          <a:latin typeface="Poppins" panose="00000500000000000000" pitchFamily="2" charset="0"/>
                          <a:cs typeface="Poppins" panose="00000500000000000000" pitchFamily="2" charset="0"/>
                        </a:rPr>
                        <a:t>yy</a:t>
                      </a:r>
                      <a:endParaRPr lang="en-US" sz="800" b="1" dirty="0">
                        <a:latin typeface="Poppins" panose="00000500000000000000" pitchFamily="2" charset="0"/>
                        <a:cs typeface="Poppins" panose="00000500000000000000" pitchFamily="2" charset="0"/>
                      </a:endParaRPr>
                    </a:p>
                  </a:txBody>
                  <a:tcPr anchor="ctr"/>
                </a:tc>
                <a:extLst>
                  <a:ext uri="{0D108BD9-81ED-4DB2-BD59-A6C34878D82A}">
                    <a16:rowId xmlns:a16="http://schemas.microsoft.com/office/drawing/2014/main" val="152942478"/>
                  </a:ext>
                </a:extLst>
              </a:tr>
              <a:tr h="25739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1" dirty="0">
                          <a:latin typeface="Poppins" panose="00000500000000000000" pitchFamily="2" charset="0"/>
                          <a:cs typeface="Poppins" panose="00000500000000000000" pitchFamily="2" charset="0"/>
                        </a:rPr>
                        <a:t>Receive Operation</a:t>
                      </a:r>
                    </a:p>
                  </a:txBody>
                  <a:tcPr anchor="ctr"/>
                </a:tc>
                <a:tc>
                  <a:txBody>
                    <a:bodyPr/>
                    <a:lstStyle/>
                    <a:p>
                      <a:pPr algn="ctr">
                        <a:buNone/>
                      </a:pPr>
                      <a:r>
                        <a:rPr lang="en-US" sz="800" b="1" dirty="0">
                          <a:latin typeface="Poppins" panose="00000500000000000000" pitchFamily="2" charset="0"/>
                          <a:cs typeface="Poppins" panose="00000500000000000000" pitchFamily="2" charset="0"/>
                        </a:rPr>
                        <a:t>Tracking No.</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0" dirty="0">
                          <a:latin typeface="Poppins" panose="00000500000000000000" pitchFamily="2" charset="0"/>
                          <a:cs typeface="Poppins" panose="00000500000000000000" pitchFamily="2" charset="0"/>
                        </a:rPr>
                        <a:t>VARCHAR(20)</a:t>
                      </a:r>
                    </a:p>
                  </a:txBody>
                  <a:tcPr anchor="ctr"/>
                </a:tc>
                <a:tc>
                  <a:txBody>
                    <a:bodyPr/>
                    <a:lstStyle/>
                    <a:p>
                      <a:pPr>
                        <a:buNone/>
                      </a:pPr>
                      <a:r>
                        <a:rPr lang="en-US" sz="800" b="0" dirty="0">
                          <a:latin typeface="Poppins" panose="00000500000000000000" pitchFamily="2" charset="0"/>
                          <a:cs typeface="Poppins" panose="00000500000000000000" pitchFamily="2" charset="0"/>
                        </a:rPr>
                        <a:t>All receive tracking number form wash receive operation</a:t>
                      </a:r>
                    </a:p>
                  </a:txBody>
                  <a:tcPr anchor="ctr"/>
                </a:tc>
                <a:extLst>
                  <a:ext uri="{0D108BD9-81ED-4DB2-BD59-A6C34878D82A}">
                    <a16:rowId xmlns:a16="http://schemas.microsoft.com/office/drawing/2014/main" val="409983888"/>
                  </a:ext>
                </a:extLst>
              </a:tr>
              <a:tr h="257392">
                <a:tc>
                  <a:txBody>
                    <a:bodyPr/>
                    <a:lstStyle/>
                    <a:p>
                      <a:pPr algn="ctr">
                        <a:buNone/>
                      </a:pPr>
                      <a:r>
                        <a:rPr lang="en-US" sz="800" b="1" dirty="0">
                          <a:latin typeface="Poppins" panose="00000500000000000000" pitchFamily="2" charset="0"/>
                          <a:cs typeface="Poppins" panose="00000500000000000000" pitchFamily="2" charset="0"/>
                        </a:rPr>
                        <a:t>Receive Operation</a:t>
                      </a:r>
                    </a:p>
                  </a:txBody>
                  <a:tcPr anchor="ctr"/>
                </a:tc>
                <a:tc>
                  <a:txBody>
                    <a:bodyPr/>
                    <a:lstStyle/>
                    <a:p>
                      <a:pPr algn="ctr">
                        <a:buNone/>
                      </a:pPr>
                      <a:r>
                        <a:rPr lang="en-US" sz="800" b="1" dirty="0">
                          <a:latin typeface="Poppins" panose="00000500000000000000" pitchFamily="2" charset="0"/>
                          <a:cs typeface="Poppins" panose="00000500000000000000" pitchFamily="2" charset="0"/>
                        </a:rPr>
                        <a:t>Receive From</a:t>
                      </a:r>
                    </a:p>
                  </a:txBody>
                  <a:tcPr anchor="ctr"/>
                </a:tc>
                <a:tc>
                  <a:txBody>
                    <a:bodyPr/>
                    <a:lstStyle/>
                    <a:p>
                      <a:pPr algn="ctr"/>
                      <a:r>
                        <a:rPr lang="en-US" sz="800" b="0" dirty="0">
                          <a:latin typeface="Poppins" panose="00000500000000000000" pitchFamily="2" charset="0"/>
                          <a:cs typeface="Poppins" panose="00000500000000000000" pitchFamily="2" charset="0"/>
                        </a:rPr>
                        <a:t>VARCHAR(10)</a:t>
                      </a:r>
                    </a:p>
                  </a:txBody>
                  <a:tcPr anchor="ctr"/>
                </a:tc>
                <a:tc>
                  <a:txBody>
                    <a:bodyPr/>
                    <a:lstStyle/>
                    <a:p>
                      <a:pPr algn="l"/>
                      <a:r>
                        <a:rPr lang="en-US" sz="800" b="0" dirty="0">
                          <a:latin typeface="Poppins" panose="00000500000000000000" pitchFamily="2" charset="0"/>
                          <a:cs typeface="Poppins" panose="00000500000000000000" pitchFamily="2" charset="0"/>
                        </a:rPr>
                        <a:t>Source Unit (Unit short code)</a:t>
                      </a:r>
                    </a:p>
                  </a:txBody>
                  <a:tcPr anchor="ctr"/>
                </a:tc>
                <a:extLst>
                  <a:ext uri="{0D108BD9-81ED-4DB2-BD59-A6C34878D82A}">
                    <a16:rowId xmlns:a16="http://schemas.microsoft.com/office/drawing/2014/main" val="3419741649"/>
                  </a:ext>
                </a:extLst>
              </a:tr>
              <a:tr h="257392">
                <a:tc>
                  <a:txBody>
                    <a:bodyPr/>
                    <a:lstStyle/>
                    <a:p>
                      <a:pPr algn="ctr">
                        <a:buNone/>
                      </a:pPr>
                      <a:r>
                        <a:rPr lang="en-US" sz="800" b="1" dirty="0">
                          <a:latin typeface="Poppins" panose="00000500000000000000" pitchFamily="2" charset="0"/>
                          <a:cs typeface="Poppins" panose="00000500000000000000" pitchFamily="2" charset="0"/>
                        </a:rPr>
                        <a:t>Receive Operation</a:t>
                      </a:r>
                    </a:p>
                  </a:txBody>
                  <a:tcPr anchor="ctr"/>
                </a:tc>
                <a:tc>
                  <a:txBody>
                    <a:bodyPr/>
                    <a:lstStyle/>
                    <a:p>
                      <a:pPr algn="ctr">
                        <a:buNone/>
                      </a:pPr>
                      <a:r>
                        <a:rPr lang="en-US" sz="800" b="1" dirty="0">
                          <a:latin typeface="Poppins" panose="00000500000000000000" pitchFamily="2" charset="0"/>
                          <a:cs typeface="Poppins" panose="00000500000000000000" pitchFamily="2" charset="0"/>
                        </a:rPr>
                        <a:t>Buyer</a:t>
                      </a:r>
                    </a:p>
                  </a:txBody>
                  <a:tcPr anchor="ctr"/>
                </a:tc>
                <a:tc>
                  <a:txBody>
                    <a:bodyPr/>
                    <a:lstStyle/>
                    <a:p>
                      <a:pPr algn="ctr"/>
                      <a:r>
                        <a:rPr lang="en-US" sz="800" b="0" dirty="0">
                          <a:latin typeface="Poppins" panose="00000500000000000000" pitchFamily="2" charset="0"/>
                          <a:cs typeface="Poppins" panose="00000500000000000000" pitchFamily="2" charset="0"/>
                        </a:rPr>
                        <a:t>VARCHAR(50)</a:t>
                      </a:r>
                    </a:p>
                  </a:txBody>
                  <a:tcPr anchor="ctr"/>
                </a:tc>
                <a:tc>
                  <a:txBody>
                    <a:bodyPr/>
                    <a:lstStyle/>
                    <a:p>
                      <a:pPr algn="l"/>
                      <a:r>
                        <a:rPr lang="en-US" sz="800" b="0" dirty="0">
                          <a:latin typeface="Poppins" panose="00000500000000000000" pitchFamily="2" charset="0"/>
                          <a:cs typeface="Poppins" panose="00000500000000000000" pitchFamily="2" charset="0"/>
                        </a:rPr>
                        <a:t>Buyer Name</a:t>
                      </a:r>
                    </a:p>
                  </a:txBody>
                  <a:tcPr anchor="ctr"/>
                </a:tc>
                <a:extLst>
                  <a:ext uri="{0D108BD9-81ED-4DB2-BD59-A6C34878D82A}">
                    <a16:rowId xmlns:a16="http://schemas.microsoft.com/office/drawing/2014/main" val="2005449333"/>
                  </a:ext>
                </a:extLst>
              </a:tr>
              <a:tr h="25739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1" dirty="0">
                          <a:latin typeface="Poppins" panose="00000500000000000000" pitchFamily="2" charset="0"/>
                          <a:cs typeface="Poppins" panose="00000500000000000000" pitchFamily="2" charset="0"/>
                        </a:rPr>
                        <a:t>Receive Operation</a:t>
                      </a:r>
                    </a:p>
                  </a:txBody>
                  <a:tcPr anchor="ctr"/>
                </a:tc>
                <a:tc>
                  <a:txBody>
                    <a:bodyPr/>
                    <a:lstStyle/>
                    <a:p>
                      <a:pPr algn="ctr">
                        <a:buNone/>
                      </a:pPr>
                      <a:r>
                        <a:rPr lang="en-US" sz="800" b="1" dirty="0">
                          <a:latin typeface="Poppins" panose="00000500000000000000" pitchFamily="2" charset="0"/>
                          <a:cs typeface="Poppins" panose="00000500000000000000" pitchFamily="2" charset="0"/>
                        </a:rPr>
                        <a:t>Job</a:t>
                      </a:r>
                    </a:p>
                  </a:txBody>
                  <a:tcPr anchor="ctr"/>
                </a:tc>
                <a:tc>
                  <a:txBody>
                    <a:bodyPr/>
                    <a:lstStyle/>
                    <a:p>
                      <a:pPr algn="ctr">
                        <a:buNone/>
                      </a:pPr>
                      <a:r>
                        <a:rPr lang="en-US" sz="800" dirty="0">
                          <a:latin typeface="Poppins" panose="00000500000000000000" pitchFamily="2" charset="0"/>
                          <a:cs typeface="Poppins" panose="00000500000000000000" pitchFamily="2" charset="0"/>
                        </a:rPr>
                        <a:t>VARCHAR(50)</a:t>
                      </a:r>
                    </a:p>
                  </a:txBody>
                  <a:tcPr anchor="ctr"/>
                </a:tc>
                <a:tc>
                  <a:txBody>
                    <a:bodyPr/>
                    <a:lstStyle/>
                    <a:p>
                      <a:pPr algn="l">
                        <a:buNone/>
                      </a:pPr>
                      <a:r>
                        <a:rPr lang="en-US" sz="800" dirty="0">
                          <a:latin typeface="Poppins" panose="00000500000000000000" pitchFamily="2" charset="0"/>
                          <a:cs typeface="Poppins" panose="00000500000000000000" pitchFamily="2" charset="0"/>
                        </a:rPr>
                        <a:t>Production tracking job code.</a:t>
                      </a:r>
                    </a:p>
                  </a:txBody>
                  <a:tcPr anchor="ctr"/>
                </a:tc>
                <a:extLst>
                  <a:ext uri="{0D108BD9-81ED-4DB2-BD59-A6C34878D82A}">
                    <a16:rowId xmlns:a16="http://schemas.microsoft.com/office/drawing/2014/main" val="834570030"/>
                  </a:ext>
                </a:extLst>
              </a:tr>
              <a:tr h="25739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1" dirty="0">
                          <a:latin typeface="Poppins" panose="00000500000000000000" pitchFamily="2" charset="0"/>
                          <a:cs typeface="Poppins" panose="00000500000000000000" pitchFamily="2" charset="0"/>
                        </a:rPr>
                        <a:t>Receive Operation</a:t>
                      </a:r>
                    </a:p>
                  </a:txBody>
                  <a:tcPr anchor="ctr"/>
                </a:tc>
                <a:tc>
                  <a:txBody>
                    <a:bodyPr/>
                    <a:lstStyle/>
                    <a:p>
                      <a:pPr algn="ctr">
                        <a:buNone/>
                      </a:pPr>
                      <a:r>
                        <a:rPr lang="en-US" sz="800" b="1" dirty="0">
                          <a:latin typeface="Poppins" panose="00000500000000000000" pitchFamily="2" charset="0"/>
                          <a:cs typeface="Poppins" panose="00000500000000000000" pitchFamily="2" charset="0"/>
                        </a:rPr>
                        <a:t>Order</a:t>
                      </a:r>
                    </a:p>
                  </a:txBody>
                  <a:tcPr anchor="ctr"/>
                </a:tc>
                <a:tc>
                  <a:txBody>
                    <a:bodyPr/>
                    <a:lstStyle/>
                    <a:p>
                      <a:pPr algn="ctr">
                        <a:buNone/>
                      </a:pPr>
                      <a:r>
                        <a:rPr lang="en-US" sz="800" dirty="0">
                          <a:latin typeface="Poppins" panose="00000500000000000000" pitchFamily="2" charset="0"/>
                          <a:cs typeface="Poppins" panose="00000500000000000000" pitchFamily="2" charset="0"/>
                        </a:rPr>
                        <a:t>VARCHAR(50)</a:t>
                      </a:r>
                    </a:p>
                  </a:txBody>
                  <a:tcPr anchor="ctr"/>
                </a:tc>
                <a:tc>
                  <a:txBody>
                    <a:bodyPr/>
                    <a:lstStyle/>
                    <a:p>
                      <a:pPr algn="l">
                        <a:buNone/>
                      </a:pPr>
                      <a:r>
                        <a:rPr lang="en-US" sz="800" dirty="0">
                          <a:latin typeface="Poppins" panose="00000500000000000000" pitchFamily="2" charset="0"/>
                          <a:cs typeface="Poppins" panose="00000500000000000000" pitchFamily="2" charset="0"/>
                        </a:rPr>
                        <a:t>Buyer Tracking</a:t>
                      </a:r>
                    </a:p>
                  </a:txBody>
                  <a:tcPr anchor="ctr"/>
                </a:tc>
                <a:extLst>
                  <a:ext uri="{0D108BD9-81ED-4DB2-BD59-A6C34878D82A}">
                    <a16:rowId xmlns:a16="http://schemas.microsoft.com/office/drawing/2014/main" val="422207759"/>
                  </a:ext>
                </a:extLst>
              </a:tr>
              <a:tr h="25739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1" dirty="0">
                          <a:latin typeface="Poppins" panose="00000500000000000000" pitchFamily="2" charset="0"/>
                          <a:cs typeface="Poppins" panose="00000500000000000000" pitchFamily="2" charset="0"/>
                        </a:rPr>
                        <a:t>Receive Operation</a:t>
                      </a:r>
                    </a:p>
                  </a:txBody>
                  <a:tcPr anchor="ctr"/>
                </a:tc>
                <a:tc>
                  <a:txBody>
                    <a:bodyPr/>
                    <a:lstStyle/>
                    <a:p>
                      <a:pPr algn="ctr">
                        <a:buNone/>
                      </a:pPr>
                      <a:r>
                        <a:rPr lang="en-US" sz="800" b="1" dirty="0">
                          <a:latin typeface="Poppins" panose="00000500000000000000" pitchFamily="2" charset="0"/>
                          <a:cs typeface="Poppins" panose="00000500000000000000" pitchFamily="2" charset="0"/>
                        </a:rPr>
                        <a:t>Style</a:t>
                      </a:r>
                    </a:p>
                  </a:txBody>
                  <a:tcPr anchor="ctr"/>
                </a:tc>
                <a:tc>
                  <a:txBody>
                    <a:bodyPr/>
                    <a:lstStyle/>
                    <a:p>
                      <a:pPr algn="ctr">
                        <a:buNone/>
                      </a:pPr>
                      <a:r>
                        <a:rPr lang="en-US" sz="800" dirty="0">
                          <a:latin typeface="Poppins" panose="00000500000000000000" pitchFamily="2" charset="0"/>
                          <a:cs typeface="Poppins" panose="00000500000000000000" pitchFamily="2" charset="0"/>
                        </a:rPr>
                        <a:t>VARCHAR(50)</a:t>
                      </a:r>
                    </a:p>
                  </a:txBody>
                  <a:tcPr anchor="ctr"/>
                </a:tc>
                <a:tc>
                  <a:txBody>
                    <a:bodyPr/>
                    <a:lstStyle/>
                    <a:p>
                      <a:pPr algn="l">
                        <a:buNone/>
                      </a:pPr>
                      <a:r>
                        <a:rPr lang="en-US" sz="800" dirty="0">
                          <a:latin typeface="Poppins" panose="00000500000000000000" pitchFamily="2" charset="0"/>
                          <a:cs typeface="Poppins" panose="00000500000000000000" pitchFamily="2" charset="0"/>
                        </a:rPr>
                        <a:t>Buyer Tracking</a:t>
                      </a:r>
                    </a:p>
                  </a:txBody>
                  <a:tcPr anchor="ctr"/>
                </a:tc>
                <a:extLst>
                  <a:ext uri="{0D108BD9-81ED-4DB2-BD59-A6C34878D82A}">
                    <a16:rowId xmlns:a16="http://schemas.microsoft.com/office/drawing/2014/main" val="1952559397"/>
                  </a:ext>
                </a:extLst>
              </a:tr>
              <a:tr h="25739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1" dirty="0">
                          <a:latin typeface="Poppins" panose="00000500000000000000" pitchFamily="2" charset="0"/>
                          <a:cs typeface="Poppins" panose="00000500000000000000" pitchFamily="2" charset="0"/>
                        </a:rPr>
                        <a:t>Receive Operation</a:t>
                      </a:r>
                    </a:p>
                  </a:txBody>
                  <a:tcPr anchor="ctr"/>
                </a:tc>
                <a:tc>
                  <a:txBody>
                    <a:bodyPr/>
                    <a:lstStyle/>
                    <a:p>
                      <a:pPr algn="ctr">
                        <a:buNone/>
                      </a:pPr>
                      <a:r>
                        <a:rPr lang="en-US" sz="800" b="1" dirty="0">
                          <a:latin typeface="Poppins" panose="00000500000000000000" pitchFamily="2" charset="0"/>
                          <a:cs typeface="Poppins" panose="00000500000000000000" pitchFamily="2" charset="0"/>
                        </a:rPr>
                        <a:t>Color</a:t>
                      </a:r>
                    </a:p>
                  </a:txBody>
                  <a:tcPr anchor="ctr"/>
                </a:tc>
                <a:tc>
                  <a:txBody>
                    <a:bodyPr/>
                    <a:lstStyle/>
                    <a:p>
                      <a:pPr algn="ctr">
                        <a:buNone/>
                      </a:pPr>
                      <a:r>
                        <a:rPr lang="en-US" sz="800" dirty="0">
                          <a:latin typeface="Poppins" panose="00000500000000000000" pitchFamily="2" charset="0"/>
                          <a:cs typeface="Poppins" panose="00000500000000000000" pitchFamily="2" charset="0"/>
                        </a:rPr>
                        <a:t>VARCHAR(50)</a:t>
                      </a:r>
                    </a:p>
                  </a:txBody>
                  <a:tcPr anchor="ctr"/>
                </a:tc>
                <a:tc>
                  <a:txBody>
                    <a:bodyPr/>
                    <a:lstStyle/>
                    <a:p>
                      <a:pPr algn="l">
                        <a:buNone/>
                      </a:pPr>
                      <a:r>
                        <a:rPr lang="en-US" sz="800" dirty="0">
                          <a:latin typeface="Poppins" panose="00000500000000000000" pitchFamily="2" charset="0"/>
                          <a:cs typeface="Poppins" panose="00000500000000000000" pitchFamily="2" charset="0"/>
                        </a:rPr>
                        <a:t>Garment/Fabric color name.</a:t>
                      </a:r>
                    </a:p>
                  </a:txBody>
                  <a:tcPr anchor="ctr"/>
                </a:tc>
                <a:extLst>
                  <a:ext uri="{0D108BD9-81ED-4DB2-BD59-A6C34878D82A}">
                    <a16:rowId xmlns:a16="http://schemas.microsoft.com/office/drawing/2014/main" val="3117770966"/>
                  </a:ext>
                </a:extLst>
              </a:tr>
              <a:tr h="25739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1" dirty="0">
                          <a:latin typeface="Poppins" panose="00000500000000000000" pitchFamily="2" charset="0"/>
                          <a:cs typeface="Poppins" panose="00000500000000000000" pitchFamily="2" charset="0"/>
                        </a:rPr>
                        <a:t>Receive Operation</a:t>
                      </a:r>
                    </a:p>
                  </a:txBody>
                  <a:tcPr anchor="ctr"/>
                </a:tc>
                <a:tc>
                  <a:txBody>
                    <a:bodyPr/>
                    <a:lstStyle/>
                    <a:p>
                      <a:pPr algn="ctr"/>
                      <a:r>
                        <a:rPr lang="en-US" sz="800" b="1" dirty="0">
                          <a:latin typeface="Poppins" panose="00000500000000000000" pitchFamily="2" charset="0"/>
                          <a:cs typeface="Poppins" panose="00000500000000000000" pitchFamily="2" charset="0"/>
                        </a:rPr>
                        <a:t>Dress Part</a:t>
                      </a:r>
                    </a:p>
                  </a:txBody>
                  <a:tcPr anchor="ctr"/>
                </a:tc>
                <a:tc>
                  <a:txBody>
                    <a:bodyPr/>
                    <a:lstStyle/>
                    <a:p>
                      <a:pPr algn="ctr"/>
                      <a:r>
                        <a:rPr lang="en-US" sz="800" dirty="0">
                          <a:latin typeface="Poppins" panose="00000500000000000000" pitchFamily="2" charset="0"/>
                          <a:cs typeface="Poppins" panose="00000500000000000000" pitchFamily="2" charset="0"/>
                        </a:rPr>
                        <a:t>VARCHAR(50)</a:t>
                      </a:r>
                    </a:p>
                  </a:txBody>
                  <a:tcPr anchor="ctr"/>
                </a:tc>
                <a:tc>
                  <a:txBody>
                    <a:bodyPr/>
                    <a:lstStyle/>
                    <a:p>
                      <a:pPr algn="l"/>
                      <a:r>
                        <a:rPr lang="en-US" sz="800" dirty="0">
                          <a:latin typeface="Poppins" panose="00000500000000000000" pitchFamily="2" charset="0"/>
                          <a:cs typeface="Poppins" panose="00000500000000000000" pitchFamily="2" charset="0"/>
                        </a:rPr>
                        <a:t>Component category (Top, Bottom, Garments)</a:t>
                      </a:r>
                    </a:p>
                  </a:txBody>
                  <a:tcPr anchor="ctr"/>
                </a:tc>
                <a:extLst>
                  <a:ext uri="{0D108BD9-81ED-4DB2-BD59-A6C34878D82A}">
                    <a16:rowId xmlns:a16="http://schemas.microsoft.com/office/drawing/2014/main" val="133756382"/>
                  </a:ext>
                </a:extLst>
              </a:tr>
              <a:tr h="25739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1" dirty="0">
                          <a:latin typeface="Poppins" panose="00000500000000000000" pitchFamily="2" charset="0"/>
                          <a:cs typeface="Poppins" panose="00000500000000000000" pitchFamily="2" charset="0"/>
                        </a:rPr>
                        <a:t>Batch Operation</a:t>
                      </a:r>
                    </a:p>
                  </a:txBody>
                  <a:tcPr anchor="ctr"/>
                </a:tc>
                <a:tc>
                  <a:txBody>
                    <a:bodyPr/>
                    <a:lstStyle/>
                    <a:p>
                      <a:pPr algn="ctr"/>
                      <a:r>
                        <a:rPr lang="en-US" sz="800" b="1" dirty="0">
                          <a:latin typeface="Poppins" panose="00000500000000000000" pitchFamily="2" charset="0"/>
                          <a:cs typeface="Poppins" panose="00000500000000000000" pitchFamily="2" charset="0"/>
                        </a:rPr>
                        <a:t>Wash Category</a:t>
                      </a:r>
                    </a:p>
                  </a:txBody>
                  <a:tcPr anchor="ctr"/>
                </a:tc>
                <a:tc>
                  <a:txBody>
                    <a:bodyPr/>
                    <a:lstStyle/>
                    <a:p>
                      <a:pPr algn="ctr"/>
                      <a:r>
                        <a:rPr lang="en-US" sz="800" dirty="0">
                          <a:latin typeface="Poppins" panose="00000500000000000000" pitchFamily="2" charset="0"/>
                          <a:cs typeface="Poppins" panose="00000500000000000000" pitchFamily="2" charset="0"/>
                        </a:rPr>
                        <a:t>VARCHAR(50)</a:t>
                      </a:r>
                    </a:p>
                  </a:txBody>
                  <a:tcPr anchor="ctr"/>
                </a:tc>
                <a:tc>
                  <a:txBody>
                    <a:bodyPr/>
                    <a:lstStyle/>
                    <a:p>
                      <a:pPr algn="l"/>
                      <a:r>
                        <a:rPr lang="en-US" sz="800" dirty="0">
                          <a:latin typeface="Poppins" panose="00000500000000000000" pitchFamily="2" charset="0"/>
                          <a:cs typeface="Poppins" panose="00000500000000000000" pitchFamily="2" charset="0"/>
                        </a:rPr>
                        <a:t>Process type (Garment Dyeing Complete, Normal Wash).</a:t>
                      </a:r>
                    </a:p>
                  </a:txBody>
                  <a:tcPr anchor="ctr"/>
                </a:tc>
                <a:extLst>
                  <a:ext uri="{0D108BD9-81ED-4DB2-BD59-A6C34878D82A}">
                    <a16:rowId xmlns:a16="http://schemas.microsoft.com/office/drawing/2014/main" val="1610964081"/>
                  </a:ext>
                </a:extLst>
              </a:tr>
              <a:tr h="25739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1" dirty="0">
                          <a:latin typeface="Poppins" panose="00000500000000000000" pitchFamily="2" charset="0"/>
                          <a:cs typeface="Poppins" panose="00000500000000000000" pitchFamily="2" charset="0"/>
                        </a:rPr>
                        <a:t>Receive Operation</a:t>
                      </a:r>
                    </a:p>
                  </a:txBody>
                  <a:tcPr anchor="ctr"/>
                </a:tc>
                <a:tc>
                  <a:txBody>
                    <a:bodyPr/>
                    <a:lstStyle/>
                    <a:p>
                      <a:pPr algn="ctr"/>
                      <a:r>
                        <a:rPr lang="en-US" sz="800" b="1" dirty="0">
                          <a:latin typeface="Poppins" panose="00000500000000000000" pitchFamily="2" charset="0"/>
                          <a:cs typeface="Poppins" panose="00000500000000000000" pitchFamily="2" charset="0"/>
                        </a:rPr>
                        <a:t>Item Name</a:t>
                      </a:r>
                    </a:p>
                  </a:txBody>
                  <a:tcPr anchor="ctr"/>
                </a:tc>
                <a:tc>
                  <a:txBody>
                    <a:bodyPr/>
                    <a:lstStyle/>
                    <a:p>
                      <a:pPr algn="ctr"/>
                      <a:r>
                        <a:rPr lang="en-US" sz="800" dirty="0">
                          <a:latin typeface="Poppins" panose="00000500000000000000" pitchFamily="2" charset="0"/>
                          <a:cs typeface="Poppins" panose="00000500000000000000" pitchFamily="2" charset="0"/>
                        </a:rPr>
                        <a:t>VARCHAR(50)</a:t>
                      </a:r>
                    </a:p>
                  </a:txBody>
                  <a:tcPr anchor="ctr"/>
                </a:tc>
                <a:tc>
                  <a:txBody>
                    <a:bodyPr/>
                    <a:lstStyle/>
                    <a:p>
                      <a:pPr algn="l"/>
                      <a:r>
                        <a:rPr lang="en-US" sz="800" dirty="0">
                          <a:latin typeface="Poppins" panose="00000500000000000000" pitchFamily="2" charset="0"/>
                          <a:cs typeface="Poppins" panose="00000500000000000000" pitchFamily="2" charset="0"/>
                        </a:rPr>
                        <a:t>Complete Garments/ Fabric/ Cutting Parts</a:t>
                      </a:r>
                    </a:p>
                  </a:txBody>
                  <a:tcPr anchor="ctr"/>
                </a:tc>
                <a:extLst>
                  <a:ext uri="{0D108BD9-81ED-4DB2-BD59-A6C34878D82A}">
                    <a16:rowId xmlns:a16="http://schemas.microsoft.com/office/drawing/2014/main" val="39563169"/>
                  </a:ext>
                </a:extLst>
              </a:tr>
              <a:tr h="257392">
                <a:tc>
                  <a:txBody>
                    <a:bodyPr/>
                    <a:lstStyle/>
                    <a:p>
                      <a:pPr algn="ctr"/>
                      <a:r>
                        <a:rPr lang="en-US" sz="800" b="1" dirty="0">
                          <a:latin typeface="Poppins" panose="00000500000000000000" pitchFamily="2" charset="0"/>
                          <a:cs typeface="Poppins" panose="00000500000000000000" pitchFamily="2" charset="0"/>
                        </a:rPr>
                        <a:t>QC Operation</a:t>
                      </a:r>
                    </a:p>
                  </a:txBody>
                  <a:tcPr anchor="ctr"/>
                </a:tc>
                <a:tc>
                  <a:txBody>
                    <a:bodyPr/>
                    <a:lstStyle/>
                    <a:p>
                      <a:pPr algn="ctr"/>
                      <a:r>
                        <a:rPr lang="en-US" sz="800" b="1" dirty="0">
                          <a:latin typeface="Poppins" panose="00000500000000000000" pitchFamily="2" charset="0"/>
                          <a:cs typeface="Poppins" panose="00000500000000000000" pitchFamily="2" charset="0"/>
                        </a:rPr>
                        <a:t>Shift</a:t>
                      </a:r>
                    </a:p>
                  </a:txBody>
                  <a:tcPr anchor="ctr"/>
                </a:tc>
                <a:tc>
                  <a:txBody>
                    <a:bodyPr/>
                    <a:lstStyle/>
                    <a:p>
                      <a:pPr algn="ctr"/>
                      <a:r>
                        <a:rPr lang="en-US" sz="800" dirty="0">
                          <a:latin typeface="Poppins" panose="00000500000000000000" pitchFamily="2" charset="0"/>
                          <a:cs typeface="Poppins" panose="00000500000000000000" pitchFamily="2" charset="0"/>
                        </a:rPr>
                        <a:t>VARCHAR(10)</a:t>
                      </a:r>
                    </a:p>
                  </a:txBody>
                  <a:tcPr anchor="ctr"/>
                </a:tc>
                <a:tc>
                  <a:txBody>
                    <a:bodyPr/>
                    <a:lstStyle/>
                    <a:p>
                      <a:pPr algn="l"/>
                      <a:r>
                        <a:rPr lang="en-US" sz="800" dirty="0">
                          <a:latin typeface="Poppins" panose="00000500000000000000" pitchFamily="2" charset="0"/>
                          <a:cs typeface="Poppins" panose="00000500000000000000" pitchFamily="2" charset="0"/>
                        </a:rPr>
                        <a:t>Morning or Night shift</a:t>
                      </a:r>
                    </a:p>
                  </a:txBody>
                  <a:tcPr anchor="ctr"/>
                </a:tc>
                <a:extLst>
                  <a:ext uri="{0D108BD9-81ED-4DB2-BD59-A6C34878D82A}">
                    <a16:rowId xmlns:a16="http://schemas.microsoft.com/office/drawing/2014/main" val="1080957475"/>
                  </a:ext>
                </a:extLst>
              </a:tr>
              <a:tr h="25739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1" dirty="0">
                          <a:latin typeface="Poppins" panose="00000500000000000000" pitchFamily="2" charset="0"/>
                          <a:cs typeface="Poppins" panose="00000500000000000000" pitchFamily="2" charset="0"/>
                        </a:rPr>
                        <a:t>QC Operation</a:t>
                      </a:r>
                    </a:p>
                  </a:txBody>
                  <a:tcPr anchor="ctr"/>
                </a:tc>
                <a:tc>
                  <a:txBody>
                    <a:bodyPr/>
                    <a:lstStyle/>
                    <a:p>
                      <a:pPr algn="ctr"/>
                      <a:r>
                        <a:rPr lang="en-US" sz="800" b="1" dirty="0">
                          <a:latin typeface="Poppins" panose="00000500000000000000" pitchFamily="2" charset="0"/>
                          <a:cs typeface="Poppins" panose="00000500000000000000" pitchFamily="2" charset="0"/>
                        </a:rPr>
                        <a:t>QC Name</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dirty="0">
                          <a:latin typeface="Poppins" panose="00000500000000000000" pitchFamily="2" charset="0"/>
                          <a:cs typeface="Poppins" panose="00000500000000000000" pitchFamily="2" charset="0"/>
                        </a:rPr>
                        <a:t>VARCHAR(20)</a:t>
                      </a:r>
                    </a:p>
                  </a:txBody>
                  <a:tcPr anchor="ctr"/>
                </a:tc>
                <a:tc>
                  <a:txBody>
                    <a:bodyPr/>
                    <a:lstStyle/>
                    <a:p>
                      <a:pPr algn="l"/>
                      <a:r>
                        <a:rPr lang="en-US" sz="800" dirty="0">
                          <a:latin typeface="Poppins" panose="00000500000000000000" pitchFamily="2" charset="0"/>
                          <a:cs typeface="Poppins" panose="00000500000000000000" pitchFamily="2" charset="0"/>
                        </a:rPr>
                        <a:t>Concern name who have done QC operation</a:t>
                      </a:r>
                    </a:p>
                  </a:txBody>
                  <a:tcPr anchor="ctr"/>
                </a:tc>
                <a:extLst>
                  <a:ext uri="{0D108BD9-81ED-4DB2-BD59-A6C34878D82A}">
                    <a16:rowId xmlns:a16="http://schemas.microsoft.com/office/drawing/2014/main" val="1565300223"/>
                  </a:ext>
                </a:extLst>
              </a:tr>
              <a:tr h="25739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1" dirty="0">
                          <a:latin typeface="Poppins" panose="00000500000000000000" pitchFamily="2" charset="0"/>
                          <a:cs typeface="Poppins" panose="00000500000000000000" pitchFamily="2" charset="0"/>
                        </a:rPr>
                        <a:t>Receive Operation</a:t>
                      </a:r>
                    </a:p>
                  </a:txBody>
                  <a:tcPr anchor="ctr"/>
                </a:tc>
                <a:tc>
                  <a:txBody>
                    <a:bodyPr/>
                    <a:lstStyle/>
                    <a:p>
                      <a:pPr algn="ctr"/>
                      <a:r>
                        <a:rPr lang="en-US" sz="800" b="1" dirty="0">
                          <a:latin typeface="Poppins" panose="00000500000000000000" pitchFamily="2" charset="0"/>
                          <a:cs typeface="Poppins" panose="00000500000000000000" pitchFamily="2" charset="0"/>
                        </a:rPr>
                        <a:t>Received Qty</a:t>
                      </a:r>
                    </a:p>
                  </a:txBody>
                  <a:tcPr anchor="ctr"/>
                </a:tc>
                <a:tc>
                  <a:txBody>
                    <a:bodyPr/>
                    <a:lstStyle/>
                    <a:p>
                      <a:pPr algn="ctr"/>
                      <a:r>
                        <a:rPr lang="en-US" sz="800" dirty="0">
                          <a:latin typeface="Poppins" panose="00000500000000000000" pitchFamily="2" charset="0"/>
                          <a:cs typeface="Poppins" panose="00000500000000000000" pitchFamily="2" charset="0"/>
                        </a:rPr>
                        <a:t>INT</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dirty="0">
                          <a:latin typeface="Poppins" panose="00000500000000000000" pitchFamily="2" charset="0"/>
                          <a:cs typeface="Poppins" panose="00000500000000000000" pitchFamily="2" charset="0"/>
                        </a:rPr>
                        <a:t>For fabric then data type will be DECIMAL(12,2)</a:t>
                      </a:r>
                    </a:p>
                  </a:txBody>
                  <a:tcPr anchor="ctr"/>
                </a:tc>
                <a:extLst>
                  <a:ext uri="{0D108BD9-81ED-4DB2-BD59-A6C34878D82A}">
                    <a16:rowId xmlns:a16="http://schemas.microsoft.com/office/drawing/2014/main" val="723600098"/>
                  </a:ext>
                </a:extLst>
              </a:tr>
            </a:tbl>
          </a:graphicData>
        </a:graphic>
      </p:graphicFrame>
      <p:pic>
        <p:nvPicPr>
          <p:cNvPr id="26" name="Drawing 6">
            <a:extLst>
              <a:ext uri="{FF2B5EF4-FFF2-40B4-BE49-F238E27FC236}">
                <a16:creationId xmlns:a16="http://schemas.microsoft.com/office/drawing/2014/main" id="{B7F20A6B-0E16-6AF8-4451-CC0F614FE06C}"/>
              </a:ext>
            </a:extLst>
          </p:cNvPr>
          <p:cNvPicPr>
            <a:picLocks noChangeAspect="1"/>
          </p:cNvPicPr>
          <p:nvPr/>
        </p:nvPicPr>
        <p:blipFill>
          <a:blip r:embed="rId7"/>
          <a:stretch>
            <a:fillRect/>
          </a:stretch>
        </p:blipFill>
        <p:spPr>
          <a:xfrm>
            <a:off x="64799" y="157620"/>
            <a:ext cx="216257" cy="185363"/>
          </a:xfrm>
          <a:prstGeom prst="rect">
            <a:avLst/>
          </a:prstGeom>
        </p:spPr>
      </p:pic>
      <p:pic>
        <p:nvPicPr>
          <p:cNvPr id="30" name="Drawing 6">
            <a:extLst>
              <a:ext uri="{FF2B5EF4-FFF2-40B4-BE49-F238E27FC236}">
                <a16:creationId xmlns:a16="http://schemas.microsoft.com/office/drawing/2014/main" id="{940CD75A-54A5-50B4-2F99-AC8476C4A5F1}"/>
              </a:ext>
            </a:extLst>
          </p:cNvPr>
          <p:cNvPicPr>
            <a:picLocks noChangeAspect="1"/>
          </p:cNvPicPr>
          <p:nvPr/>
        </p:nvPicPr>
        <p:blipFill>
          <a:blip r:embed="rId7"/>
          <a:stretch>
            <a:fillRect/>
          </a:stretch>
        </p:blipFill>
        <p:spPr>
          <a:xfrm>
            <a:off x="71908" y="1842633"/>
            <a:ext cx="216257" cy="185363"/>
          </a:xfrm>
          <a:prstGeom prst="rect">
            <a:avLst/>
          </a:prstGeom>
        </p:spPr>
      </p:pic>
    </p:spTree>
    <p:extLst>
      <p:ext uri="{BB962C8B-B14F-4D97-AF65-F5344CB8AC3E}">
        <p14:creationId xmlns:p14="http://schemas.microsoft.com/office/powerpoint/2010/main" val="4176354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95B6629-E013-D553-BE79-782935FF6698}"/>
              </a:ext>
            </a:extLst>
          </p:cNvPr>
          <p:cNvGraphicFramePr>
            <a:graphicFrameLocks noGrp="1"/>
          </p:cNvGraphicFramePr>
          <p:nvPr>
            <p:extLst>
              <p:ext uri="{D42A27DB-BD31-4B8C-83A1-F6EECF244321}">
                <p14:modId xmlns:p14="http://schemas.microsoft.com/office/powerpoint/2010/main" val="3790967808"/>
              </p:ext>
            </p:extLst>
          </p:nvPr>
        </p:nvGraphicFramePr>
        <p:xfrm>
          <a:off x="227661" y="241620"/>
          <a:ext cx="6402677" cy="2121927"/>
        </p:xfrm>
        <a:graphic>
          <a:graphicData uri="http://schemas.openxmlformats.org/drawingml/2006/table">
            <a:tbl>
              <a:tblPr firstRow="1">
                <a:tableStyleId>{8799B23B-EC83-4686-B30A-512413B5E67A}</a:tableStyleId>
              </a:tblPr>
              <a:tblGrid>
                <a:gridCol w="1295700">
                  <a:extLst>
                    <a:ext uri="{9D8B030D-6E8A-4147-A177-3AD203B41FA5}">
                      <a16:colId xmlns:a16="http://schemas.microsoft.com/office/drawing/2014/main" val="2231877261"/>
                    </a:ext>
                  </a:extLst>
                </a:gridCol>
                <a:gridCol w="1381764">
                  <a:extLst>
                    <a:ext uri="{9D8B030D-6E8A-4147-A177-3AD203B41FA5}">
                      <a16:colId xmlns:a16="http://schemas.microsoft.com/office/drawing/2014/main" val="3964042735"/>
                    </a:ext>
                  </a:extLst>
                </a:gridCol>
                <a:gridCol w="942975">
                  <a:extLst>
                    <a:ext uri="{9D8B030D-6E8A-4147-A177-3AD203B41FA5}">
                      <a16:colId xmlns:a16="http://schemas.microsoft.com/office/drawing/2014/main" val="2129427023"/>
                    </a:ext>
                  </a:extLst>
                </a:gridCol>
                <a:gridCol w="2782238">
                  <a:extLst>
                    <a:ext uri="{9D8B030D-6E8A-4147-A177-3AD203B41FA5}">
                      <a16:colId xmlns:a16="http://schemas.microsoft.com/office/drawing/2014/main" val="2864033036"/>
                    </a:ext>
                  </a:extLst>
                </a:gridCol>
              </a:tblGrid>
              <a:tr h="208448">
                <a:tc>
                  <a:txBody>
                    <a:bodyPr/>
                    <a:lstStyle/>
                    <a:p>
                      <a:pPr algn="ctr"/>
                      <a:r>
                        <a:rPr lang="en-US" sz="1050" b="1" dirty="0">
                          <a:latin typeface="Poppins" panose="00000500000000000000" pitchFamily="2" charset="0"/>
                          <a:cs typeface="Poppins" panose="00000500000000000000" pitchFamily="2" charset="0"/>
                        </a:rPr>
                        <a:t>Source</a:t>
                      </a:r>
                      <a:endParaRPr lang="en-US" sz="1050" b="1" dirty="0">
                        <a:solidFill>
                          <a:schemeClr val="tx1"/>
                        </a:solidFill>
                        <a:latin typeface="Poppins" panose="00000500000000000000" pitchFamily="2" charset="0"/>
                        <a:cs typeface="Poppins" panose="00000500000000000000" pitchFamily="2" charset="0"/>
                      </a:endParaRPr>
                    </a:p>
                  </a:txBody>
                  <a:tcPr anchor="ctr"/>
                </a:tc>
                <a:tc>
                  <a:txBody>
                    <a:bodyPr/>
                    <a:lstStyle/>
                    <a:p>
                      <a:pPr algn="ctr"/>
                      <a:r>
                        <a:rPr lang="en-US" sz="1050" b="1" dirty="0">
                          <a:solidFill>
                            <a:schemeClr val="tx1"/>
                          </a:solidFill>
                          <a:latin typeface="Poppins" panose="00000500000000000000" pitchFamily="2" charset="0"/>
                          <a:cs typeface="Poppins" panose="00000500000000000000" pitchFamily="2" charset="0"/>
                        </a:rPr>
                        <a:t>Header Label</a:t>
                      </a:r>
                    </a:p>
                  </a:txBody>
                  <a:tcPr anchor="ctr"/>
                </a:tc>
                <a:tc>
                  <a:txBody>
                    <a:bodyPr/>
                    <a:lstStyle/>
                    <a:p>
                      <a:pPr algn="ctr"/>
                      <a:r>
                        <a:rPr lang="en-US" sz="1050" b="1" dirty="0">
                          <a:solidFill>
                            <a:schemeClr val="tx1"/>
                          </a:solidFill>
                          <a:latin typeface="Poppins" panose="00000500000000000000" pitchFamily="2" charset="0"/>
                          <a:cs typeface="Poppins" panose="00000500000000000000" pitchFamily="2" charset="0"/>
                        </a:rPr>
                        <a:t>Data Type</a:t>
                      </a:r>
                    </a:p>
                  </a:txBody>
                  <a:tcPr anchor="ctr"/>
                </a:tc>
                <a:tc>
                  <a:txBody>
                    <a:bodyPr/>
                    <a:lstStyle/>
                    <a:p>
                      <a:pPr algn="ctr"/>
                      <a:r>
                        <a:rPr lang="en-US" sz="1050" b="1" dirty="0">
                          <a:latin typeface="Poppins" panose="00000500000000000000" pitchFamily="2" charset="0"/>
                          <a:cs typeface="Poppins" panose="00000500000000000000" pitchFamily="2" charset="0"/>
                        </a:rPr>
                        <a:t>Behavior</a:t>
                      </a:r>
                      <a:endParaRPr lang="en-US" sz="1050" b="1" dirty="0">
                        <a:solidFill>
                          <a:schemeClr val="tx1"/>
                        </a:solidFill>
                        <a:latin typeface="Poppins" panose="00000500000000000000" pitchFamily="2" charset="0"/>
                        <a:cs typeface="Poppins" panose="00000500000000000000" pitchFamily="2" charset="0"/>
                      </a:endParaRPr>
                    </a:p>
                  </a:txBody>
                  <a:tcPr anchor="ctr"/>
                </a:tc>
                <a:extLst>
                  <a:ext uri="{0D108BD9-81ED-4DB2-BD59-A6C34878D82A}">
                    <a16:rowId xmlns:a16="http://schemas.microsoft.com/office/drawing/2014/main" val="3958262478"/>
                  </a:ext>
                </a:extLst>
              </a:tr>
              <a:tr h="25739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1" dirty="0">
                          <a:latin typeface="Poppins" panose="00000500000000000000" pitchFamily="2" charset="0"/>
                          <a:cs typeface="Poppins" panose="00000500000000000000" pitchFamily="2" charset="0"/>
                        </a:rPr>
                        <a:t>Receive Operation</a:t>
                      </a:r>
                    </a:p>
                  </a:txBody>
                  <a:tcPr anchor="ctr"/>
                </a:tc>
                <a:tc>
                  <a:txBody>
                    <a:bodyPr/>
                    <a:lstStyle/>
                    <a:p>
                      <a:pPr algn="ctr"/>
                      <a:r>
                        <a:rPr lang="en-US" sz="800" b="1" dirty="0">
                          <a:latin typeface="Poppins" panose="00000500000000000000" pitchFamily="2" charset="0"/>
                          <a:cs typeface="Poppins" panose="00000500000000000000" pitchFamily="2" charset="0"/>
                        </a:rPr>
                        <a:t>UoM</a:t>
                      </a:r>
                    </a:p>
                  </a:txBody>
                  <a:tcPr anchor="ctr"/>
                </a:tc>
                <a:tc>
                  <a:txBody>
                    <a:bodyPr/>
                    <a:lstStyle/>
                    <a:p>
                      <a:pPr algn="ctr"/>
                      <a:r>
                        <a:rPr lang="en-US" sz="800" dirty="0">
                          <a:latin typeface="Poppins" panose="00000500000000000000" pitchFamily="2" charset="0"/>
                          <a:cs typeface="Poppins" panose="00000500000000000000" pitchFamily="2" charset="0"/>
                        </a:rPr>
                        <a:t>VARCHAR(10)</a:t>
                      </a:r>
                    </a:p>
                  </a:txBody>
                  <a:tcPr anchor="ctr"/>
                </a:tc>
                <a:tc>
                  <a:txBody>
                    <a:bodyPr/>
                    <a:lstStyle/>
                    <a:p>
                      <a:pPr algn="l"/>
                      <a:r>
                        <a:rPr lang="en-US" sz="800" dirty="0">
                          <a:latin typeface="Poppins" panose="00000500000000000000" pitchFamily="2" charset="0"/>
                          <a:cs typeface="Poppins" panose="00000500000000000000" pitchFamily="2" charset="0"/>
                        </a:rPr>
                        <a:t>Unit of Measure (Pcs, Kg).</a:t>
                      </a:r>
                    </a:p>
                  </a:txBody>
                  <a:tcPr anchor="ctr"/>
                </a:tc>
                <a:extLst>
                  <a:ext uri="{0D108BD9-81ED-4DB2-BD59-A6C34878D82A}">
                    <a16:rowId xmlns:a16="http://schemas.microsoft.com/office/drawing/2014/main" val="2715775459"/>
                  </a:ext>
                </a:extLst>
              </a:tr>
              <a:tr h="322615">
                <a:tc>
                  <a:txBody>
                    <a:bodyPr/>
                    <a:lstStyle/>
                    <a:p>
                      <a:pPr algn="ctr"/>
                      <a:r>
                        <a:rPr lang="en-US" sz="800" b="1" dirty="0">
                          <a:latin typeface="Poppins" panose="00000500000000000000" pitchFamily="2" charset="0"/>
                          <a:cs typeface="Poppins" panose="00000500000000000000" pitchFamily="2" charset="0"/>
                        </a:rPr>
                        <a:t>QC Operation</a:t>
                      </a:r>
                    </a:p>
                  </a:txBody>
                  <a:tcPr anchor="ctr"/>
                </a:tc>
                <a:tc>
                  <a:txBody>
                    <a:bodyPr/>
                    <a:lstStyle/>
                    <a:p>
                      <a:pPr algn="ctr"/>
                      <a:r>
                        <a:rPr lang="en-US" sz="800" b="1" dirty="0">
                          <a:latin typeface="Poppins" panose="00000500000000000000" pitchFamily="2" charset="0"/>
                          <a:cs typeface="Poppins" panose="00000500000000000000" pitchFamily="2" charset="0"/>
                        </a:rPr>
                        <a:t>Batch No</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dirty="0">
                          <a:latin typeface="Poppins" panose="00000500000000000000" pitchFamily="2" charset="0"/>
                          <a:cs typeface="Poppins" panose="00000500000000000000" pitchFamily="2" charset="0"/>
                        </a:rPr>
                        <a:t>VARCHAR(20)</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dirty="0">
                          <a:latin typeface="Poppins" panose="00000500000000000000" pitchFamily="2" charset="0"/>
                          <a:cs typeface="Poppins" panose="00000500000000000000" pitchFamily="2" charset="0"/>
                        </a:rPr>
                        <a:t>QC performed Batch Number</a:t>
                      </a:r>
                    </a:p>
                  </a:txBody>
                  <a:tcPr anchor="ctr"/>
                </a:tc>
                <a:extLst>
                  <a:ext uri="{0D108BD9-81ED-4DB2-BD59-A6C34878D82A}">
                    <a16:rowId xmlns:a16="http://schemas.microsoft.com/office/drawing/2014/main" val="1320785887"/>
                  </a:ext>
                </a:extLst>
              </a:tr>
              <a:tr h="322615">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1" dirty="0">
                          <a:latin typeface="Poppins" panose="00000500000000000000" pitchFamily="2" charset="0"/>
                          <a:cs typeface="Poppins" panose="00000500000000000000" pitchFamily="2" charset="0"/>
                        </a:rPr>
                        <a:t>QC Operation</a:t>
                      </a:r>
                    </a:p>
                  </a:txBody>
                  <a:tcPr anchor="ctr"/>
                </a:tc>
                <a:tc>
                  <a:txBody>
                    <a:bodyPr/>
                    <a:lstStyle/>
                    <a:p>
                      <a:pPr algn="ctr"/>
                      <a:r>
                        <a:rPr lang="en-US" sz="800" b="1" dirty="0">
                          <a:latin typeface="Poppins" panose="00000500000000000000" pitchFamily="2" charset="0"/>
                          <a:cs typeface="Poppins" panose="00000500000000000000" pitchFamily="2" charset="0"/>
                        </a:rPr>
                        <a:t>Total Check Qty</a:t>
                      </a:r>
                    </a:p>
                  </a:txBody>
                  <a:tcPr anchor="ctr"/>
                </a:tc>
                <a:tc>
                  <a:txBody>
                    <a:bodyPr/>
                    <a:lstStyle/>
                    <a:p>
                      <a:pPr algn="ctr"/>
                      <a:r>
                        <a:rPr lang="en-US" sz="800" dirty="0">
                          <a:latin typeface="Poppins" panose="00000500000000000000" pitchFamily="2" charset="0"/>
                          <a:cs typeface="Poppins" panose="00000500000000000000" pitchFamily="2" charset="0"/>
                        </a:rPr>
                        <a:t>INT</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dirty="0">
                          <a:latin typeface="Poppins" panose="00000500000000000000" pitchFamily="2" charset="0"/>
                          <a:cs typeface="Poppins" panose="00000500000000000000" pitchFamily="2" charset="0"/>
                        </a:rPr>
                        <a:t>For fabric then data type will be DECIMAL(12,2)</a:t>
                      </a:r>
                    </a:p>
                  </a:txBody>
                  <a:tcPr anchor="ctr"/>
                </a:tc>
                <a:extLst>
                  <a:ext uri="{0D108BD9-81ED-4DB2-BD59-A6C34878D82A}">
                    <a16:rowId xmlns:a16="http://schemas.microsoft.com/office/drawing/2014/main" val="394941328"/>
                  </a:ext>
                </a:extLst>
              </a:tr>
              <a:tr h="322615">
                <a:tc>
                  <a:txBody>
                    <a:bodyPr/>
                    <a:lstStyle/>
                    <a:p>
                      <a:pPr algn="ctr"/>
                      <a:r>
                        <a:rPr lang="en-US" sz="800" b="1" dirty="0">
                          <a:latin typeface="Poppins" panose="00000500000000000000" pitchFamily="2" charset="0"/>
                          <a:cs typeface="Poppins" panose="00000500000000000000" pitchFamily="2" charset="0"/>
                        </a:rPr>
                        <a:t>QC Operation</a:t>
                      </a:r>
                    </a:p>
                  </a:txBody>
                  <a:tcPr anchor="ctr"/>
                </a:tc>
                <a:tc>
                  <a:txBody>
                    <a:bodyPr/>
                    <a:lstStyle/>
                    <a:p>
                      <a:pPr algn="ctr"/>
                      <a:r>
                        <a:rPr lang="en-US" sz="800" b="1" dirty="0">
                          <a:latin typeface="Poppins" panose="00000500000000000000" pitchFamily="2" charset="0"/>
                          <a:cs typeface="Poppins" panose="00000500000000000000" pitchFamily="2" charset="0"/>
                        </a:rPr>
                        <a:t>Total Reject Qty</a:t>
                      </a:r>
                    </a:p>
                  </a:txBody>
                  <a:tcPr anchor="ctr"/>
                </a:tc>
                <a:tc>
                  <a:txBody>
                    <a:bodyPr/>
                    <a:lstStyle/>
                    <a:p>
                      <a:pPr algn="ctr"/>
                      <a:r>
                        <a:rPr lang="en-US" sz="800" dirty="0">
                          <a:latin typeface="Poppins" panose="00000500000000000000" pitchFamily="2" charset="0"/>
                          <a:cs typeface="Poppins" panose="00000500000000000000" pitchFamily="2" charset="0"/>
                        </a:rPr>
                        <a:t>INT</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dirty="0">
                          <a:latin typeface="Poppins" panose="00000500000000000000" pitchFamily="2" charset="0"/>
                          <a:cs typeface="Poppins" panose="00000500000000000000" pitchFamily="2" charset="0"/>
                        </a:rPr>
                        <a:t>For fabric then data type will be DECIMAL(12,2)</a:t>
                      </a:r>
                    </a:p>
                  </a:txBody>
                  <a:tcPr anchor="ctr"/>
                </a:tc>
                <a:extLst>
                  <a:ext uri="{0D108BD9-81ED-4DB2-BD59-A6C34878D82A}">
                    <a16:rowId xmlns:a16="http://schemas.microsoft.com/office/drawing/2014/main" val="942019622"/>
                  </a:ext>
                </a:extLst>
              </a:tr>
              <a:tr h="322615">
                <a:tc>
                  <a:txBody>
                    <a:bodyPr/>
                    <a:lstStyle/>
                    <a:p>
                      <a:pPr algn="ctr"/>
                      <a:r>
                        <a:rPr lang="en-US" sz="800" b="1" dirty="0">
                          <a:latin typeface="Poppins" panose="00000500000000000000" pitchFamily="2" charset="0"/>
                          <a:cs typeface="Poppins" panose="00000500000000000000" pitchFamily="2" charset="0"/>
                        </a:rPr>
                        <a:t>Calculative</a:t>
                      </a:r>
                    </a:p>
                  </a:txBody>
                  <a:tcPr anchor="ctr"/>
                </a:tc>
                <a:tc>
                  <a:txBody>
                    <a:bodyPr/>
                    <a:lstStyle/>
                    <a:p>
                      <a:pPr algn="ctr"/>
                      <a:r>
                        <a:rPr lang="en-US" sz="800" b="1" dirty="0">
                          <a:latin typeface="Poppins" panose="00000500000000000000" pitchFamily="2" charset="0"/>
                          <a:cs typeface="Poppins" panose="00000500000000000000" pitchFamily="2" charset="0"/>
                        </a:rPr>
                        <a:t>Reject %</a:t>
                      </a:r>
                    </a:p>
                  </a:txBody>
                  <a:tcPr anchor="ctr"/>
                </a:tc>
                <a:tc>
                  <a:txBody>
                    <a:bodyPr/>
                    <a:lstStyle/>
                    <a:p>
                      <a:pPr algn="ctr"/>
                      <a:r>
                        <a:rPr lang="en-US" sz="800" dirty="0"/>
                        <a:t>DECIMAL(5,2)</a:t>
                      </a:r>
                      <a:endParaRPr lang="en-US" sz="800" dirty="0">
                        <a:latin typeface="Poppins" panose="00000500000000000000" pitchFamily="2" charset="0"/>
                        <a:cs typeface="Poppins" panose="00000500000000000000" pitchFamily="2" charset="0"/>
                      </a:endParaRPr>
                    </a:p>
                  </a:txBody>
                  <a:tcPr anchor="ctr"/>
                </a:tc>
                <a:tc>
                  <a:txBody>
                    <a:bodyPr/>
                    <a:lstStyle/>
                    <a:p>
                      <a:pPr algn="l"/>
                      <a:r>
                        <a:rPr lang="en-US" sz="800" dirty="0">
                          <a:latin typeface="Poppins" panose="00000500000000000000" pitchFamily="2" charset="0"/>
                          <a:cs typeface="Poppins" panose="00000500000000000000" pitchFamily="2" charset="0"/>
                        </a:rPr>
                        <a:t>(Total Reject Qty / Total Check Qty)*100</a:t>
                      </a:r>
                    </a:p>
                  </a:txBody>
                  <a:tcPr anchor="ctr"/>
                </a:tc>
                <a:extLst>
                  <a:ext uri="{0D108BD9-81ED-4DB2-BD59-A6C34878D82A}">
                    <a16:rowId xmlns:a16="http://schemas.microsoft.com/office/drawing/2014/main" val="2263035514"/>
                  </a:ext>
                </a:extLst>
              </a:tr>
              <a:tr h="322615">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1" dirty="0">
                          <a:latin typeface="Poppins" panose="00000500000000000000" pitchFamily="2" charset="0"/>
                          <a:cs typeface="Poppins" panose="00000500000000000000" pitchFamily="2" charset="0"/>
                        </a:rPr>
                        <a:t>QC Operation</a:t>
                      </a:r>
                    </a:p>
                  </a:txBody>
                  <a:tcPr anchor="ctr"/>
                </a:tc>
                <a:tc>
                  <a:txBody>
                    <a:bodyPr/>
                    <a:lstStyle/>
                    <a:p>
                      <a:pPr algn="ctr">
                        <a:buNone/>
                      </a:pPr>
                      <a:r>
                        <a:rPr lang="en-US" sz="800" b="1" dirty="0">
                          <a:latin typeface="Poppins" panose="00000500000000000000" pitchFamily="2" charset="0"/>
                          <a:cs typeface="Poppins" panose="00000500000000000000" pitchFamily="2" charset="0"/>
                        </a:rPr>
                        <a:t>(XS,S to XXL)</a:t>
                      </a:r>
                    </a:p>
                  </a:txBody>
                  <a:tcPr anchor="ctr"/>
                </a:tc>
                <a:tc>
                  <a:txBody>
                    <a:bodyPr/>
                    <a:lstStyle/>
                    <a:p>
                      <a:pPr algn="ctr">
                        <a:buNone/>
                      </a:pPr>
                      <a:r>
                        <a:rPr lang="en-US" sz="800" dirty="0">
                          <a:latin typeface="Poppins" panose="00000500000000000000" pitchFamily="2" charset="0"/>
                          <a:cs typeface="Poppins" panose="00000500000000000000" pitchFamily="2" charset="0"/>
                        </a:rPr>
                        <a:t>INT</a:t>
                      </a:r>
                    </a:p>
                  </a:txBody>
                  <a:tcPr anchor="ctr"/>
                </a:tc>
                <a:tc>
                  <a:txBody>
                    <a:bodyPr/>
                    <a:lstStyle/>
                    <a:p>
                      <a:pPr algn="l">
                        <a:buNone/>
                      </a:pPr>
                      <a:r>
                        <a:rPr lang="en-US" sz="800" dirty="0">
                          <a:latin typeface="Poppins" panose="00000500000000000000" pitchFamily="2" charset="0"/>
                          <a:cs typeface="Poppins" panose="00000500000000000000" pitchFamily="2" charset="0"/>
                        </a:rPr>
                        <a:t>Size breakdown may vary order to order</a:t>
                      </a:r>
                    </a:p>
                  </a:txBody>
                  <a:tcPr anchor="ctr"/>
                </a:tc>
                <a:extLst>
                  <a:ext uri="{0D108BD9-81ED-4DB2-BD59-A6C34878D82A}">
                    <a16:rowId xmlns:a16="http://schemas.microsoft.com/office/drawing/2014/main" val="2857096769"/>
                  </a:ext>
                </a:extLst>
              </a:tr>
            </a:tbl>
          </a:graphicData>
        </a:graphic>
      </p:graphicFrame>
      <p:sp>
        <p:nvSpPr>
          <p:cNvPr id="5" name="TextBox 159">
            <a:extLst>
              <a:ext uri="{FF2B5EF4-FFF2-40B4-BE49-F238E27FC236}">
                <a16:creationId xmlns:a16="http://schemas.microsoft.com/office/drawing/2014/main" id="{17063B74-CDE1-7964-A968-25D9769F7199}"/>
              </a:ext>
            </a:extLst>
          </p:cNvPr>
          <p:cNvSpPr txBox="1"/>
          <p:nvPr/>
        </p:nvSpPr>
        <p:spPr>
          <a:xfrm>
            <a:off x="313386" y="2502554"/>
            <a:ext cx="5115864" cy="184922"/>
          </a:xfrm>
          <a:prstGeom prst="rect">
            <a:avLst/>
          </a:prstGeom>
        </p:spPr>
        <p:txBody>
          <a:bodyPr wrap="square" lIns="0" tIns="0" rIns="0" bIns="0" rtlCol="0" anchor="t">
            <a:spAutoFit/>
          </a:bodyPr>
          <a:lstStyle/>
          <a:p>
            <a:pPr algn="l">
              <a:lnSpc>
                <a:spcPts val="1400"/>
              </a:lnSpc>
              <a:spcBef>
                <a:spcPct val="0"/>
              </a:spcBef>
            </a:pPr>
            <a:r>
              <a:rPr lang="en-US" sz="1400" b="1" dirty="0">
                <a:solidFill>
                  <a:srgbClr val="000000"/>
                </a:solidFill>
                <a:latin typeface="Poppins"/>
                <a:ea typeface="Poppins"/>
                <a:cs typeface="Poppins"/>
                <a:sym typeface="Poppins"/>
              </a:rPr>
              <a:t>6. Non-Functional Requirements &amp; Assumptions</a:t>
            </a:r>
            <a:endParaRPr lang="en-US" sz="1400" dirty="0">
              <a:solidFill>
                <a:srgbClr val="000000"/>
              </a:solidFill>
              <a:latin typeface="Poppins"/>
              <a:ea typeface="Poppins"/>
              <a:cs typeface="Poppins"/>
              <a:sym typeface="Poppins"/>
            </a:endParaRPr>
          </a:p>
        </p:txBody>
      </p:sp>
      <p:sp>
        <p:nvSpPr>
          <p:cNvPr id="7" name="TextBox 162">
            <a:extLst>
              <a:ext uri="{FF2B5EF4-FFF2-40B4-BE49-F238E27FC236}">
                <a16:creationId xmlns:a16="http://schemas.microsoft.com/office/drawing/2014/main" id="{F330EA19-3A43-6C43-07A1-B8E9D17A45B4}"/>
              </a:ext>
            </a:extLst>
          </p:cNvPr>
          <p:cNvSpPr txBox="1"/>
          <p:nvPr/>
        </p:nvSpPr>
        <p:spPr>
          <a:xfrm>
            <a:off x="390525" y="2774841"/>
            <a:ext cx="5841666" cy="923330"/>
          </a:xfrm>
          <a:prstGeom prst="rect">
            <a:avLst/>
          </a:prstGeom>
        </p:spPr>
        <p:txBody>
          <a:bodyPr wrap="square" lIns="0" tIns="0" rIns="0" bIns="0" rtlCol="0" anchor="t">
            <a:spAutoFit/>
          </a:bodyPr>
          <a:lstStyle/>
          <a:p>
            <a:pPr marL="228600" indent="-228600">
              <a:buFont typeface="Tahoma" panose="020B0604030504040204" pitchFamily="34" charset="0"/>
              <a:buChar char="►"/>
            </a:pPr>
            <a:r>
              <a:rPr lang="en-US" sz="1000" b="1" dirty="0">
                <a:latin typeface="Poppins" panose="00000500000000000000" pitchFamily="2" charset="0"/>
                <a:cs typeface="Poppins" panose="00000500000000000000" pitchFamily="2" charset="0"/>
              </a:rPr>
              <a:t>Performance: </a:t>
            </a:r>
            <a:r>
              <a:rPr lang="en-US" sz="1000" dirty="0">
                <a:latin typeface="Poppins" panose="00000500000000000000" pitchFamily="2" charset="0"/>
                <a:cs typeface="Poppins" panose="00000500000000000000" pitchFamily="2" charset="0"/>
              </a:rPr>
              <a:t>Query execution and grid rendering response time under 1.2 seconds for data sets up to 50,000 inspection records.</a:t>
            </a:r>
          </a:p>
          <a:p>
            <a:pPr marL="228600" indent="-228600">
              <a:buFont typeface="Tahoma" panose="020B0604030504040204" pitchFamily="34" charset="0"/>
              <a:buChar char="►"/>
            </a:pPr>
            <a:r>
              <a:rPr lang="en-US" sz="1000" b="1" dirty="0">
                <a:latin typeface="Poppins" panose="00000500000000000000" pitchFamily="2" charset="0"/>
                <a:cs typeface="Poppins" panose="00000500000000000000" pitchFamily="2" charset="0"/>
              </a:rPr>
              <a:t>Accuracy: </a:t>
            </a:r>
            <a:r>
              <a:rPr lang="en-US" sz="1000" dirty="0">
                <a:latin typeface="Poppins" panose="00000500000000000000" pitchFamily="2" charset="0"/>
                <a:cs typeface="Poppins" panose="00000500000000000000" pitchFamily="2" charset="0"/>
              </a:rPr>
              <a:t>Percentage calculations (Reject %) must maintain precision up to 2 decimal places before rounding for display.</a:t>
            </a:r>
          </a:p>
          <a:p>
            <a:pPr marL="228600" indent="-228600">
              <a:buFont typeface="Tahoma" panose="020B0604030504040204" pitchFamily="34" charset="0"/>
              <a:buChar char="►"/>
            </a:pPr>
            <a:r>
              <a:rPr lang="en-US" sz="1000" b="1" dirty="0">
                <a:latin typeface="Poppins" panose="00000500000000000000" pitchFamily="2" charset="0"/>
                <a:cs typeface="Poppins" panose="00000500000000000000" pitchFamily="2" charset="0"/>
              </a:rPr>
              <a:t>Export Capability: </a:t>
            </a:r>
            <a:r>
              <a:rPr lang="en-US" sz="1000" dirty="0">
                <a:latin typeface="Poppins" panose="00000500000000000000" pitchFamily="2" charset="0"/>
                <a:cs typeface="Poppins" panose="00000500000000000000" pitchFamily="2" charset="0"/>
              </a:rPr>
              <a:t>Grid contents including sub-totals must export accurately to Excel and PDF formats matching displayed visual formats. </a:t>
            </a:r>
          </a:p>
        </p:txBody>
      </p:sp>
      <p:graphicFrame>
        <p:nvGraphicFramePr>
          <p:cNvPr id="9" name="Table 8">
            <a:extLst>
              <a:ext uri="{FF2B5EF4-FFF2-40B4-BE49-F238E27FC236}">
                <a16:creationId xmlns:a16="http://schemas.microsoft.com/office/drawing/2014/main" id="{9656B6E8-1621-AAAB-4BD0-0B5B4B164C40}"/>
              </a:ext>
            </a:extLst>
          </p:cNvPr>
          <p:cNvGraphicFramePr>
            <a:graphicFrameLocks noGrp="1"/>
          </p:cNvGraphicFramePr>
          <p:nvPr>
            <p:extLst>
              <p:ext uri="{D42A27DB-BD31-4B8C-83A1-F6EECF244321}">
                <p14:modId xmlns:p14="http://schemas.microsoft.com/office/powerpoint/2010/main" val="22600624"/>
              </p:ext>
            </p:extLst>
          </p:nvPr>
        </p:nvGraphicFramePr>
        <p:xfrm>
          <a:off x="160049" y="3979071"/>
          <a:ext cx="6366605" cy="1467284"/>
        </p:xfrm>
        <a:graphic>
          <a:graphicData uri="http://schemas.openxmlformats.org/drawingml/2006/table">
            <a:tbl>
              <a:tblPr firstRow="1">
                <a:tableStyleId>{8799B23B-EC83-4686-B30A-512413B5E67A}</a:tableStyleId>
              </a:tblPr>
              <a:tblGrid>
                <a:gridCol w="582901">
                  <a:extLst>
                    <a:ext uri="{9D8B030D-6E8A-4147-A177-3AD203B41FA5}">
                      <a16:colId xmlns:a16="http://schemas.microsoft.com/office/drawing/2014/main" val="2231877261"/>
                    </a:ext>
                  </a:extLst>
                </a:gridCol>
                <a:gridCol w="5783704">
                  <a:extLst>
                    <a:ext uri="{9D8B030D-6E8A-4147-A177-3AD203B41FA5}">
                      <a16:colId xmlns:a16="http://schemas.microsoft.com/office/drawing/2014/main" val="3964042735"/>
                    </a:ext>
                  </a:extLst>
                </a:gridCol>
              </a:tblGrid>
              <a:tr h="208448">
                <a:tc>
                  <a:txBody>
                    <a:bodyPr/>
                    <a:lstStyle/>
                    <a:p>
                      <a:pPr algn="ctr"/>
                      <a:r>
                        <a:rPr lang="en-US" sz="1050" dirty="0">
                          <a:solidFill>
                            <a:schemeClr val="tx1"/>
                          </a:solidFill>
                          <a:latin typeface="Poppins" panose="00000500000000000000" pitchFamily="2" charset="0"/>
                          <a:cs typeface="Poppins" panose="00000500000000000000" pitchFamily="2" charset="0"/>
                        </a:rPr>
                        <a:t>ID</a:t>
                      </a:r>
                    </a:p>
                  </a:txBody>
                  <a:tcPr anchor="ctr"/>
                </a:tc>
                <a:tc>
                  <a:txBody>
                    <a:bodyPr/>
                    <a:lstStyle/>
                    <a:p>
                      <a:pPr algn="ctr"/>
                      <a:r>
                        <a:rPr lang="en-US" sz="1050" dirty="0">
                          <a:solidFill>
                            <a:schemeClr val="tx1"/>
                          </a:solidFill>
                        </a:rPr>
                        <a:t>Rule</a:t>
                      </a:r>
                      <a:endParaRPr lang="en-US" sz="1050" dirty="0">
                        <a:solidFill>
                          <a:schemeClr val="tx1"/>
                        </a:solidFill>
                        <a:latin typeface="Poppins" panose="00000500000000000000" pitchFamily="2" charset="0"/>
                        <a:cs typeface="Poppins" panose="00000500000000000000" pitchFamily="2" charset="0"/>
                      </a:endParaRPr>
                    </a:p>
                  </a:txBody>
                  <a:tcPr anchor="ctr"/>
                </a:tc>
                <a:extLst>
                  <a:ext uri="{0D108BD9-81ED-4DB2-BD59-A6C34878D82A}">
                    <a16:rowId xmlns:a16="http://schemas.microsoft.com/office/drawing/2014/main" val="3958262478"/>
                  </a:ext>
                </a:extLst>
              </a:tr>
              <a:tr h="257392">
                <a:tc>
                  <a:txBody>
                    <a:bodyPr/>
                    <a:lstStyle/>
                    <a:p>
                      <a:pPr algn="ctr"/>
                      <a:r>
                        <a:rPr lang="en-US" sz="800" dirty="0">
                          <a:latin typeface="Poppins" panose="00000500000000000000" pitchFamily="2" charset="0"/>
                          <a:cs typeface="Poppins" panose="00000500000000000000" pitchFamily="2" charset="0"/>
                        </a:rPr>
                        <a:t>AC-1.1</a:t>
                      </a:r>
                    </a:p>
                  </a:txBody>
                  <a:tcPr anchor="ctr"/>
                </a:tc>
                <a:tc>
                  <a:txBody>
                    <a:bodyPr/>
                    <a:lstStyle/>
                    <a:p>
                      <a:pPr algn="l"/>
                      <a:r>
                        <a:rPr lang="en-US" sz="800" dirty="0">
                          <a:latin typeface="Poppins" panose="00000500000000000000" pitchFamily="2" charset="0"/>
                          <a:cs typeface="Poppins" panose="00000500000000000000" pitchFamily="2" charset="0"/>
                        </a:rPr>
                        <a:t>Selecting Unit, From Date, and To Date and clicking Search displays accurate aggregated records matching floor logs.</a:t>
                      </a:r>
                    </a:p>
                  </a:txBody>
                  <a:tcPr anchor="ctr"/>
                </a:tc>
                <a:extLst>
                  <a:ext uri="{0D108BD9-81ED-4DB2-BD59-A6C34878D82A}">
                    <a16:rowId xmlns:a16="http://schemas.microsoft.com/office/drawing/2014/main" val="2715775459"/>
                  </a:ext>
                </a:extLst>
              </a:tr>
              <a:tr h="25739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dirty="0">
                          <a:latin typeface="Poppins" panose="00000500000000000000" pitchFamily="2" charset="0"/>
                          <a:cs typeface="Poppins" panose="00000500000000000000" pitchFamily="2" charset="0"/>
                        </a:rPr>
                        <a:t>AC-1.2</a:t>
                      </a:r>
                    </a:p>
                  </a:txBody>
                  <a:tcPr anchor="ctr"/>
                </a:tc>
                <a:tc>
                  <a:txBody>
                    <a:bodyPr/>
                    <a:lstStyle/>
                    <a:p>
                      <a:pPr algn="l"/>
                      <a:r>
                        <a:rPr lang="en-US" sz="900" b="0" dirty="0">
                          <a:latin typeface="Poppins" panose="00000500000000000000" pitchFamily="2" charset="0"/>
                          <a:cs typeface="Poppins" panose="00000500000000000000" pitchFamily="2" charset="0"/>
                        </a:rPr>
                        <a:t>Calculated fields (Reject %) accurately match formula outcomes.</a:t>
                      </a:r>
                    </a:p>
                  </a:txBody>
                  <a:tcPr anchor="ctr"/>
                </a:tc>
                <a:extLst>
                  <a:ext uri="{0D108BD9-81ED-4DB2-BD59-A6C34878D82A}">
                    <a16:rowId xmlns:a16="http://schemas.microsoft.com/office/drawing/2014/main" val="3715423005"/>
                  </a:ext>
                </a:extLst>
              </a:tr>
              <a:tr h="25739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dirty="0">
                          <a:latin typeface="Poppins" panose="00000500000000000000" pitchFamily="2" charset="0"/>
                          <a:cs typeface="Poppins" panose="00000500000000000000" pitchFamily="2" charset="0"/>
                        </a:rPr>
                        <a:t>AC-1.3</a:t>
                      </a:r>
                    </a:p>
                  </a:txBody>
                  <a:tcPr anchor="ctr"/>
                </a:tc>
                <a:tc>
                  <a:txBody>
                    <a:bodyPr/>
                    <a:lstStyle/>
                    <a:p>
                      <a:pPr algn="l"/>
                      <a:r>
                        <a:rPr lang="en-US" sz="900" b="0" dirty="0">
                          <a:latin typeface="Poppins" panose="00000500000000000000" pitchFamily="2" charset="0"/>
                          <a:cs typeface="Poppins" panose="00000500000000000000" pitchFamily="2" charset="0"/>
                        </a:rPr>
                        <a:t>Typing into the Global Search field filters rows across Buyer, Job, Style, Order, and Color fields instantaneously. </a:t>
                      </a:r>
                    </a:p>
                  </a:txBody>
                  <a:tcPr anchor="ctr"/>
                </a:tc>
                <a:extLst>
                  <a:ext uri="{0D108BD9-81ED-4DB2-BD59-A6C34878D82A}">
                    <a16:rowId xmlns:a16="http://schemas.microsoft.com/office/drawing/2014/main" val="327451632"/>
                  </a:ext>
                </a:extLst>
              </a:tr>
              <a:tr h="25739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dirty="0">
                          <a:latin typeface="Poppins" panose="00000500000000000000" pitchFamily="2" charset="0"/>
                          <a:cs typeface="Poppins" panose="00000500000000000000" pitchFamily="2" charset="0"/>
                        </a:rPr>
                        <a:t>AC-1.4</a:t>
                      </a:r>
                    </a:p>
                  </a:txBody>
                  <a:tcPr anchor="ctr"/>
                </a:tc>
                <a:tc>
                  <a:txBody>
                    <a:bodyPr/>
                    <a:lstStyle/>
                    <a:p>
                      <a:pPr algn="l"/>
                      <a:r>
                        <a:rPr lang="en-US" sz="900" b="0" dirty="0">
                          <a:latin typeface="Poppins" panose="00000500000000000000" pitchFamily="2" charset="0"/>
                          <a:cs typeface="Poppins" panose="00000500000000000000" pitchFamily="2" charset="0"/>
                        </a:rPr>
                        <a:t>Exporting to Excel/PDF retains design</a:t>
                      </a:r>
                    </a:p>
                  </a:txBody>
                  <a:tcPr anchor="ctr"/>
                </a:tc>
                <a:extLst>
                  <a:ext uri="{0D108BD9-81ED-4DB2-BD59-A6C34878D82A}">
                    <a16:rowId xmlns:a16="http://schemas.microsoft.com/office/drawing/2014/main" val="1473422879"/>
                  </a:ext>
                </a:extLst>
              </a:tr>
            </a:tbl>
          </a:graphicData>
        </a:graphic>
      </p:graphicFrame>
      <p:sp>
        <p:nvSpPr>
          <p:cNvPr id="11" name="TextBox 159">
            <a:extLst>
              <a:ext uri="{FF2B5EF4-FFF2-40B4-BE49-F238E27FC236}">
                <a16:creationId xmlns:a16="http://schemas.microsoft.com/office/drawing/2014/main" id="{E677425D-0783-3AD8-7127-BA0DEC48250B}"/>
              </a:ext>
            </a:extLst>
          </p:cNvPr>
          <p:cNvSpPr txBox="1"/>
          <p:nvPr/>
        </p:nvSpPr>
        <p:spPr>
          <a:xfrm>
            <a:off x="275286" y="3733985"/>
            <a:ext cx="3474720" cy="184922"/>
          </a:xfrm>
          <a:prstGeom prst="rect">
            <a:avLst/>
          </a:prstGeom>
        </p:spPr>
        <p:txBody>
          <a:bodyPr wrap="square" lIns="0" tIns="0" rIns="0" bIns="0" rtlCol="0" anchor="t">
            <a:spAutoFit/>
          </a:bodyPr>
          <a:lstStyle/>
          <a:p>
            <a:pPr algn="l">
              <a:lnSpc>
                <a:spcPts val="1400"/>
              </a:lnSpc>
              <a:spcBef>
                <a:spcPct val="0"/>
              </a:spcBef>
            </a:pPr>
            <a:r>
              <a:rPr lang="en-US" sz="1400" b="1" dirty="0">
                <a:solidFill>
                  <a:srgbClr val="000000"/>
                </a:solidFill>
                <a:latin typeface="Poppins"/>
                <a:ea typeface="Poppins"/>
                <a:cs typeface="Poppins"/>
                <a:sym typeface="Poppins"/>
              </a:rPr>
              <a:t>7. Acceptance Criteria</a:t>
            </a:r>
            <a:endParaRPr lang="en-US" sz="1400" dirty="0">
              <a:solidFill>
                <a:srgbClr val="000000"/>
              </a:solidFill>
              <a:latin typeface="Poppins"/>
              <a:ea typeface="Poppins"/>
              <a:cs typeface="Poppins"/>
              <a:sym typeface="Poppins"/>
            </a:endParaRPr>
          </a:p>
        </p:txBody>
      </p:sp>
      <p:sp>
        <p:nvSpPr>
          <p:cNvPr id="13" name="TextBox 159">
            <a:extLst>
              <a:ext uri="{FF2B5EF4-FFF2-40B4-BE49-F238E27FC236}">
                <a16:creationId xmlns:a16="http://schemas.microsoft.com/office/drawing/2014/main" id="{A095E65F-BFF8-3B5F-0F02-D352632682B8}"/>
              </a:ext>
            </a:extLst>
          </p:cNvPr>
          <p:cNvSpPr txBox="1"/>
          <p:nvPr/>
        </p:nvSpPr>
        <p:spPr>
          <a:xfrm>
            <a:off x="283874" y="5540138"/>
            <a:ext cx="3474720" cy="184922"/>
          </a:xfrm>
          <a:prstGeom prst="rect">
            <a:avLst/>
          </a:prstGeom>
        </p:spPr>
        <p:txBody>
          <a:bodyPr wrap="square" lIns="0" tIns="0" rIns="0" bIns="0" rtlCol="0" anchor="t">
            <a:spAutoFit/>
          </a:bodyPr>
          <a:lstStyle/>
          <a:p>
            <a:pPr algn="l">
              <a:lnSpc>
                <a:spcPts val="1400"/>
              </a:lnSpc>
              <a:spcBef>
                <a:spcPct val="0"/>
              </a:spcBef>
            </a:pPr>
            <a:r>
              <a:rPr lang="en-US" sz="1400" b="1" dirty="0">
                <a:solidFill>
                  <a:srgbClr val="000000"/>
                </a:solidFill>
                <a:latin typeface="Poppins"/>
                <a:ea typeface="Poppins"/>
                <a:cs typeface="Poppins"/>
                <a:sym typeface="Poppins"/>
              </a:rPr>
              <a:t>8</a:t>
            </a:r>
            <a:r>
              <a:rPr lang="en-US" sz="1400" b="1">
                <a:solidFill>
                  <a:srgbClr val="000000"/>
                </a:solidFill>
                <a:latin typeface="Poppins"/>
                <a:ea typeface="Poppins"/>
                <a:cs typeface="Poppins"/>
                <a:sym typeface="Poppins"/>
              </a:rPr>
              <a:t>. </a:t>
            </a:r>
            <a:r>
              <a:rPr lang="en-US" sz="1400" b="1" dirty="0">
                <a:solidFill>
                  <a:srgbClr val="000000"/>
                </a:solidFill>
                <a:latin typeface="Poppins"/>
                <a:ea typeface="Poppins"/>
                <a:cs typeface="Poppins"/>
                <a:sym typeface="Poppins"/>
              </a:rPr>
              <a:t>Conclusion</a:t>
            </a:r>
            <a:endParaRPr lang="en-US" sz="1400" dirty="0">
              <a:solidFill>
                <a:srgbClr val="000000"/>
              </a:solidFill>
              <a:latin typeface="Poppins"/>
              <a:ea typeface="Poppins"/>
              <a:cs typeface="Poppins"/>
              <a:sym typeface="Poppins"/>
            </a:endParaRPr>
          </a:p>
        </p:txBody>
      </p:sp>
      <p:sp>
        <p:nvSpPr>
          <p:cNvPr id="15" name="TextBox 162">
            <a:extLst>
              <a:ext uri="{FF2B5EF4-FFF2-40B4-BE49-F238E27FC236}">
                <a16:creationId xmlns:a16="http://schemas.microsoft.com/office/drawing/2014/main" id="{521E7554-9582-5BAF-5A8C-91CF1AE224E0}"/>
              </a:ext>
            </a:extLst>
          </p:cNvPr>
          <p:cNvSpPr txBox="1"/>
          <p:nvPr/>
        </p:nvSpPr>
        <p:spPr>
          <a:xfrm>
            <a:off x="390525" y="5725060"/>
            <a:ext cx="6136128" cy="1068241"/>
          </a:xfrm>
          <a:prstGeom prst="rect">
            <a:avLst/>
          </a:prstGeom>
        </p:spPr>
        <p:txBody>
          <a:bodyPr wrap="square" lIns="0" tIns="0" rIns="0" bIns="0" rtlCol="0" anchor="t">
            <a:spAutoFit/>
          </a:bodyPr>
          <a:lstStyle/>
          <a:p>
            <a:pPr algn="l">
              <a:lnSpc>
                <a:spcPts val="1400"/>
              </a:lnSpc>
              <a:spcBef>
                <a:spcPct val="0"/>
              </a:spcBef>
            </a:pPr>
            <a:r>
              <a:rPr lang="en-US" sz="1000" dirty="0">
                <a:solidFill>
                  <a:srgbClr val="000000"/>
                </a:solidFill>
                <a:latin typeface="Poppins"/>
                <a:ea typeface="Poppins"/>
                <a:cs typeface="Poppins"/>
                <a:sym typeface="Poppins"/>
              </a:rPr>
              <a:t>This Software Requirements Specification defines the technical foundation for deploying the Date-wise Rejection Dashboard within the garments ERP environment[cite: 3]. By standardizing mathematical algorithms for rejection percentages, enforcing data visibility rules based on units, and providing granular size-wise distribution metrics, this dashboard provides quality managers with real-time actionable intelligence needed to minimize production loss during wet processing stages</a:t>
            </a:r>
          </a:p>
        </p:txBody>
      </p:sp>
      <p:pic>
        <p:nvPicPr>
          <p:cNvPr id="17" name="Drawing 6">
            <a:extLst>
              <a:ext uri="{FF2B5EF4-FFF2-40B4-BE49-F238E27FC236}">
                <a16:creationId xmlns:a16="http://schemas.microsoft.com/office/drawing/2014/main" id="{92B4749D-E2A9-12BB-7067-785B90BC1AE3}"/>
              </a:ext>
            </a:extLst>
          </p:cNvPr>
          <p:cNvPicPr>
            <a:picLocks noChangeAspect="1"/>
          </p:cNvPicPr>
          <p:nvPr/>
        </p:nvPicPr>
        <p:blipFill>
          <a:blip r:embed="rId2"/>
          <a:stretch>
            <a:fillRect/>
          </a:stretch>
        </p:blipFill>
        <p:spPr>
          <a:xfrm>
            <a:off x="51920" y="2458036"/>
            <a:ext cx="216257" cy="185363"/>
          </a:xfrm>
          <a:prstGeom prst="rect">
            <a:avLst/>
          </a:prstGeom>
        </p:spPr>
      </p:pic>
      <p:pic>
        <p:nvPicPr>
          <p:cNvPr id="19" name="Drawing 6">
            <a:extLst>
              <a:ext uri="{FF2B5EF4-FFF2-40B4-BE49-F238E27FC236}">
                <a16:creationId xmlns:a16="http://schemas.microsoft.com/office/drawing/2014/main" id="{E302B4E1-2F25-786D-984D-D613800443B5}"/>
              </a:ext>
            </a:extLst>
          </p:cNvPr>
          <p:cNvPicPr>
            <a:picLocks noChangeAspect="1"/>
          </p:cNvPicPr>
          <p:nvPr/>
        </p:nvPicPr>
        <p:blipFill>
          <a:blip r:embed="rId2"/>
          <a:stretch>
            <a:fillRect/>
          </a:stretch>
        </p:blipFill>
        <p:spPr>
          <a:xfrm>
            <a:off x="11404" y="3701247"/>
            <a:ext cx="216257" cy="185363"/>
          </a:xfrm>
          <a:prstGeom prst="rect">
            <a:avLst/>
          </a:prstGeom>
        </p:spPr>
      </p:pic>
      <p:pic>
        <p:nvPicPr>
          <p:cNvPr id="21" name="Drawing 6">
            <a:extLst>
              <a:ext uri="{FF2B5EF4-FFF2-40B4-BE49-F238E27FC236}">
                <a16:creationId xmlns:a16="http://schemas.microsoft.com/office/drawing/2014/main" id="{33FEA248-96B7-6C89-9D87-7C68C72A699C}"/>
              </a:ext>
            </a:extLst>
          </p:cNvPr>
          <p:cNvPicPr>
            <a:picLocks noChangeAspect="1"/>
          </p:cNvPicPr>
          <p:nvPr/>
        </p:nvPicPr>
        <p:blipFill>
          <a:blip r:embed="rId2"/>
          <a:stretch>
            <a:fillRect/>
          </a:stretch>
        </p:blipFill>
        <p:spPr>
          <a:xfrm>
            <a:off x="50044" y="5500495"/>
            <a:ext cx="216257" cy="185363"/>
          </a:xfrm>
          <a:prstGeom prst="rect">
            <a:avLst/>
          </a:prstGeom>
        </p:spPr>
      </p:pic>
    </p:spTree>
    <p:extLst>
      <p:ext uri="{BB962C8B-B14F-4D97-AF65-F5344CB8AC3E}">
        <p14:creationId xmlns:p14="http://schemas.microsoft.com/office/powerpoint/2010/main" val="669787490"/>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355</TotalTime>
  <Words>1019</Words>
  <Application>Microsoft Office PowerPoint</Application>
  <PresentationFormat>A4 Paper (210x297 mm)</PresentationFormat>
  <Paragraphs>180</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Calibri</vt:lpstr>
      <vt:lpstr>Calibri Light</vt:lpstr>
      <vt:lpstr>Poppins</vt:lpstr>
      <vt:lpstr>Tahoma</vt:lpstr>
      <vt:lpstr>Office 2013 - 2022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Merajul Islam</dc:creator>
  <cp:lastModifiedBy>Merajul Islam</cp:lastModifiedBy>
  <cp:revision>1</cp:revision>
  <dcterms:created xsi:type="dcterms:W3CDTF">2026-06-20T06:23:51Z</dcterms:created>
  <dcterms:modified xsi:type="dcterms:W3CDTF">2026-08-18T03:46:00Z</dcterms:modified>
</cp:coreProperties>
</file>